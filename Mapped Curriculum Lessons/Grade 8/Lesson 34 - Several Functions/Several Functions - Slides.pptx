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dat" ContentType="application/x-fontdata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b096de5cc5b4685" /><Relationship Type="http://schemas.openxmlformats.org/officeDocument/2006/relationships/extended-properties" Target="/docProps/app.xml" Id="Rb557513ff19d466f" /><Relationship Type="http://schemas.openxmlformats.org/officeDocument/2006/relationships/officeDocument" Target="/ppt/presentation.xml" Id="R90db51c8a2444041" /></Relationships>
</file>

<file path=ppt/presentation.xml><?xml version="1.0" encoding="utf-8"?>
<p:presentation xmlns:p="http://schemas.openxmlformats.org/presentationml/2006/main" embedTrueTypeFonts="1" saveSubsetFonts="0">
  <p:sldMasterIdLst>
    <p:sldMasterId xmlns:r="http://schemas.openxmlformats.org/officeDocument/2006/relationships" id="2147483648" r:id="Rae232d82d743487a"/>
  </p:sldMasterIdLst>
  <p:notesMasterIdLst>
    <p:notesMasterId xmlns:r="http://schemas.openxmlformats.org/officeDocument/2006/relationships" r:id="R3c16a8851fae4d70"/>
  </p:notesMasterIdLst>
  <p:sldIdLst>
    <p:sldId xmlns:r="http://schemas.openxmlformats.org/officeDocument/2006/relationships" id="256" r:id="R3aac8f7a1d9b4e3f"/>
    <p:sldId xmlns:r="http://schemas.openxmlformats.org/officeDocument/2006/relationships" id="257" r:id="Radeb7a88b72c43cd"/>
    <p:sldId xmlns:r="http://schemas.openxmlformats.org/officeDocument/2006/relationships" id="258" r:id="Rcfea86b8638c4b96"/>
    <p:sldId xmlns:r="http://schemas.openxmlformats.org/officeDocument/2006/relationships" id="259" r:id="R2950761714764ec1"/>
    <p:sldId xmlns:r="http://schemas.openxmlformats.org/officeDocument/2006/relationships" id="260" r:id="R39844d782829422b"/>
    <p:sldId xmlns:r="http://schemas.openxmlformats.org/officeDocument/2006/relationships" id="261" r:id="R40ed8eac37794a2f"/>
    <p:sldId xmlns:r="http://schemas.openxmlformats.org/officeDocument/2006/relationships" id="262" r:id="Rb63d45078eeb4844"/>
    <p:sldId xmlns:r="http://schemas.openxmlformats.org/officeDocument/2006/relationships" id="263" r:id="Rb7556d5eb6844428"/>
    <p:sldId xmlns:r="http://schemas.openxmlformats.org/officeDocument/2006/relationships" id="264" r:id="R6275ec6ef44b4344"/>
  </p:sldIdLst>
  <p:sldSz cx="12192000" cy="6858000"/>
  <p:notesSz cx="6858000" cy="9144000"/>
  <p:embeddedFontLst>
    <p:embeddedFont>
      <p:font typeface="JetBrains Mono"/>
      <p:regular xmlns:r="http://schemas.openxmlformats.org/officeDocument/2006/relationships" r:id="R5009db131b5949c8"/>
    </p:embeddedFont>
  </p:embeddedFontLst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a60366808774d30" /><Relationship Type="http://schemas.openxmlformats.org/officeDocument/2006/relationships/slideMaster" Target="/ppt/slideMasters/slideMaster1.xml" Id="Rae232d82d743487a" /><Relationship Type="http://schemas.openxmlformats.org/officeDocument/2006/relationships/notesMaster" Target="/ppt/notesMasters/notesMaster1.xml" Id="R3c16a8851fae4d70" /><Relationship Type="http://schemas.openxmlformats.org/officeDocument/2006/relationships/presProps" Target="/ppt/presProps.xml" Id="R2c4f7aaffdb54156" /><Relationship Type="http://schemas.openxmlformats.org/officeDocument/2006/relationships/viewProps" Target="/ppt/viewProps.xml" Id="R2c4b9ff7f5d84253" /><Relationship Type="http://schemas.openxmlformats.org/officeDocument/2006/relationships/tableStyles" Target="/ppt/tableStyles.xml" Id="R80606b85bc314d0d" /><Relationship Type="http://schemas.openxmlformats.org/officeDocument/2006/relationships/font" Target="/ppt/fonts/font.dat" Id="R5009db131b5949c8" /><Relationship Type="http://schemas.openxmlformats.org/officeDocument/2006/relationships/slide" Target="/ppt/slides/slide1.xml" Id="R3aac8f7a1d9b4e3f" /><Relationship Type="http://schemas.openxmlformats.org/officeDocument/2006/relationships/slide" Target="/ppt/slides/slide2.xml" Id="Radeb7a88b72c43cd" /><Relationship Type="http://schemas.openxmlformats.org/officeDocument/2006/relationships/slide" Target="/ppt/slides/slide3.xml" Id="Rcfea86b8638c4b96" /><Relationship Type="http://schemas.openxmlformats.org/officeDocument/2006/relationships/slide" Target="/ppt/slides/slide4.xml" Id="R2950761714764ec1" /><Relationship Type="http://schemas.openxmlformats.org/officeDocument/2006/relationships/slide" Target="/ppt/slides/slide5.xml" Id="R39844d782829422b" /><Relationship Type="http://schemas.openxmlformats.org/officeDocument/2006/relationships/slide" Target="/ppt/slides/slide6.xml" Id="R40ed8eac37794a2f" /><Relationship Type="http://schemas.openxmlformats.org/officeDocument/2006/relationships/slide" Target="/ppt/slides/slide7.xml" Id="Rb63d45078eeb4844" /><Relationship Type="http://schemas.openxmlformats.org/officeDocument/2006/relationships/slide" Target="/ppt/slides/slide8.xml" Id="Rb7556d5eb6844428" /><Relationship Type="http://schemas.openxmlformats.org/officeDocument/2006/relationships/slide" Target="/ppt/slides/slide9.xml" Id="R6275ec6ef44b434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0f07b5398bd439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64996e2a0144d6b" /><Relationship Type="http://schemas.openxmlformats.org/officeDocument/2006/relationships/notesMaster" Target="/ppt/notesMasters/notesMaster1.xml" Id="R0efdc5224366410c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0738e2d00a754a72" /><Relationship Type="http://schemas.openxmlformats.org/officeDocument/2006/relationships/notesMaster" Target="/ppt/notesMasters/notesMaster1.xml" Id="R0f5a651f00e046ca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867a13c1b8964606" /><Relationship Type="http://schemas.openxmlformats.org/officeDocument/2006/relationships/notesMaster" Target="/ppt/notesMasters/notesMaster1.xml" Id="R3b43446e857c4010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876e619290ea46aa" /><Relationship Type="http://schemas.openxmlformats.org/officeDocument/2006/relationships/notesMaster" Target="/ppt/notesMasters/notesMaster1.xml" Id="R7c8e1c6173e34b04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11fc5fe1477241d1" /><Relationship Type="http://schemas.openxmlformats.org/officeDocument/2006/relationships/notesMaster" Target="/ppt/notesMasters/notesMaster1.xml" Id="R05fb70eb0c7c42eb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c9f253cd873f44d0" /><Relationship Type="http://schemas.openxmlformats.org/officeDocument/2006/relationships/notesMaster" Target="/ppt/notesMasters/notesMaster1.xml" Id="Rc09b2bafd2a34df4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ae90c47cfdd94431" /><Relationship Type="http://schemas.openxmlformats.org/officeDocument/2006/relationships/notesMaster" Target="/ppt/notesMasters/notesMaster1.xml" Id="R8af8174ba4f14055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aa6faaef5fb644ae" /><Relationship Type="http://schemas.openxmlformats.org/officeDocument/2006/relationships/notesMaster" Target="/ppt/notesMasters/notesMaster1.xml" Id="Rae6d2ac36eb04e2e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4720f19fa2434a49" /><Relationship Type="http://schemas.openxmlformats.org/officeDocument/2006/relationships/notesMaster" Target="/ppt/notesMasters/notesMaster1.xml" Id="R2792d09d18b5441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c55125e51224313" /><Relationship Type="http://schemas.openxmlformats.org/officeDocument/2006/relationships/image" Target="/ppt/media/image.png" Id="Rf05ed061c2744cf5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af7ddb0dc9d4b53" /><Relationship Type="http://schemas.openxmlformats.org/officeDocument/2006/relationships/image" Target="/ppt/media/image.png" Id="R3214129214464e66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079d95ae5ab48db" /><Relationship Type="http://schemas.openxmlformats.org/officeDocument/2006/relationships/image" Target="/ppt/media/image.png" Id="Ra7a5d4fbc72848d3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20bb042f4f941de" /><Relationship Type="http://schemas.openxmlformats.org/officeDocument/2006/relationships/image" Target="/ppt/media/image.png" Id="R071a4f976c0a4137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c7f66c020b04ac6" /><Relationship Type="http://schemas.openxmlformats.org/officeDocument/2006/relationships/image" Target="/ppt/media/image.png" Id="Rf897298d34b84788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34c1c6f6eae4d21" /><Relationship Type="http://schemas.openxmlformats.org/officeDocument/2006/relationships/image" Target="/ppt/media/image.png" Id="R87f00055448042a3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ab8edfe3f8a4144" /><Relationship Type="http://schemas.openxmlformats.org/officeDocument/2006/relationships/image" Target="/ppt/media/image.png" Id="R70adef3f3c184d30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190a1935244448c" /><Relationship Type="http://schemas.openxmlformats.org/officeDocument/2006/relationships/image" Target="/ppt/media/image.png" Id="Ref9990b804fc4800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271d9b441b248fa" /><Relationship Type="http://schemas.openxmlformats.org/officeDocument/2006/relationships/image" Target="/ppt/media/image.png" Id="Rd25afc963a9644bc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02fa662ccff419c" /><Relationship Type="http://schemas.openxmlformats.org/officeDocument/2006/relationships/image" Target="/ppt/media/image.png" Id="Ra236ec6325b64382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b1a5af284864bcd" /><Relationship Type="http://schemas.openxmlformats.org/officeDocument/2006/relationships/image" Target="/ppt/media/image.png" Id="Rb6b96e1a55bf4416" /></Relationships>
</file>

<file path=ppt/slideLayouts/slideLayout1.xml><?xml version="1.0" encoding="utf-8"?>
<p:sldLayout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1" name="Picture 10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f05ed061c2744cf5"/>
          <a:stretch xmlns:a="http://schemas.openxmlformats.org/drawingml/2006/main"/>
        </p:blipFill>
        <p:spPr>
          <a:xfrm xmlns:a="http://schemas.openxmlformats.org/drawingml/2006/main" flipH="1">
            <a:off x="9886209" y="4538703"/>
            <a:ext cx="2305791" cy="1808464"/>
          </a:xfrm>
          <a:prstGeom xmlns:a="http://schemas.openxmlformats.org/drawingml/2006/main" prst="rect">
            <a:avLst/>
          </a:prstGeom>
        </p:spPr>
      </p:pic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7FDFF6CC-43FC-990C-9B6B-9217A2FD674A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 anchor="b"/>
          <a:lstStyle xmlns:a="http://schemas.openxmlformats.org/drawingml/2006/main">
            <a:lvl1pPr algn="ctr">
              <a:buNone/>
              <a:defRPr sz="6000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58F1D1E5-61EC-84C2-68FB-37DA30B7C33E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524000" y="3602038"/>
            <a:ext cx="9144000" cy="1655762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>
            <a:r>
              <a:t>Click to edit Master subtitle style</a:t>
            </a:r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47481232-E342-60AC-0C19-E932E468DAF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1038E6D-FA33-47E9-9599-ABA915C5198A}" type="slidenum">
              <a:t>‹#›</a:t>
            </a:fld>
          </a:p>
        </p:txBody>
      </p:sp>
      <p:sp>
        <p:nvSpPr>
          <p:cNvPr id="9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D451A462-1188-9829-7D1E-417EB3274292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137556" y="6358621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r>
              <a:t>© Tim Carpenter 2024</a:t>
            </a:r>
          </a:p>
        </p:txBody>
      </p:sp>
    </p:spTree>
  </p:cSld>
</p:sldLayout>
</file>

<file path=ppt/slideLayouts/slideLayout2.xml><?xml version="1.0" encoding="utf-8"?>
<p:sldLayout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88AED0F6-839A-B9DC-89D0-453455FF7C4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AB58F53C-9EF7-92DC-D765-8C886206A74B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>
            <a:normAutofit/>
          </a:bodyPr>
          <a:lstStyle xmlns:a="http://schemas.openxmlformats.org/drawingml/2006/main">
            <a:lvl1pPr>
              <a:buNone/>
              <a:defRPr sz="2000"/>
            </a:lvl1pPr>
            <a:lvl2pPr>
              <a:buNone/>
              <a:defRPr sz="1800"/>
            </a:lvl2pPr>
            <a:lvl3pPr>
              <a:buNone/>
              <a:defRPr sz="1600"/>
            </a:lvl3pPr>
            <a:lvl4pPr>
              <a:buNone/>
              <a:defRPr sz="1400"/>
            </a:lvl4pPr>
            <a:lvl5pPr>
              <a:buNone/>
              <a:defRPr sz="1400"/>
            </a:lvl5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6CBFC8B0-5A0E-12F0-38B4-11A4F3EF9A8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1038E6D-FA33-47E9-9599-ABA915C5198A}" type="slidenum">
              <a:t>‹#›</a:t>
            </a:fld>
          </a:p>
        </p:txBody>
      </p:sp>
      <p:sp>
        <p:nvSpPr>
          <p:cNvPr id="8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206D73EA-21DB-DB97-4D76-9405B6C179F8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137556" y="6358621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r>
              <a:t>© Tim Carpenter 2024</a:t>
            </a:r>
          </a:p>
        </p:txBody>
      </p:sp>
      <p:pic>
        <p:nvPicPr>
          <p:cNvPr id="26" name="Picture 10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3214129214464e66">
            <a:alphaModFix amt="28000"/>
          </a:blip>
          <a:stretch xmlns:a="http://schemas.openxmlformats.org/drawingml/2006/main"/>
        </p:blipFill>
        <p:spPr>
          <a:xfrm xmlns:a="http://schemas.openxmlformats.org/drawingml/2006/main">
            <a:off x="10590687" y="5492510"/>
            <a:ext cx="1526225" cy="1197039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3.xml><?xml version="1.0" encoding="utf-8"?>
<p:sldLayout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14FC867F-56FF-F385-7E21-9E50A476D19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1850" y="1709738"/>
            <a:ext cx="10515600" cy="2852737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6000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F0BBECC5-631B-7421-97E1-98B9F359D5A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1850" y="4589463"/>
            <a:ext cx="10515600" cy="1500187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9E8F7E75-9E44-2A95-FBD3-0072178142E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1038E6D-FA33-47E9-9599-ABA915C5198A}" type="slidenum">
              <a:t>‹#›</a:t>
            </a:fld>
          </a:p>
        </p:txBody>
      </p:sp>
      <p:sp>
        <p:nvSpPr>
          <p:cNvPr id="7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3860958F-0114-E4CB-62D5-0B058DD7DCD9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137556" y="6358621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r>
              <a:t>© Tim Carpenter 2024</a:t>
            </a:r>
          </a:p>
        </p:txBody>
      </p:sp>
      <p:pic>
        <p:nvPicPr>
          <p:cNvPr id="26" name="Picture 10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a7a5d4fbc72848d3">
            <a:alphaModFix amt="28000"/>
          </a:blip>
          <a:stretch xmlns:a="http://schemas.openxmlformats.org/drawingml/2006/main"/>
        </p:blipFill>
        <p:spPr>
          <a:xfrm xmlns:a="http://schemas.openxmlformats.org/drawingml/2006/main">
            <a:off x="10590687" y="5492510"/>
            <a:ext cx="1526225" cy="1197039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4.xml><?xml version="1.0" encoding="utf-8"?>
<p:sldLayout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73B01DDD-AD72-5492-F320-2E7CE01CE0B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B909B796-7446-F558-30BA-08587FEC72F6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838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A22B2085-44DC-514D-64F8-CF9AAAFC60B9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6172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E39ABB85-F6F1-0C19-E67F-0640F2AD985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1038E6D-FA33-47E9-9599-ABA915C5198A}" type="slidenum">
              <a:t>‹#›</a:t>
            </a:fld>
          </a:p>
        </p:txBody>
      </p:sp>
      <p:sp>
        <p:nvSpPr>
          <p:cNvPr id="8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E1953A55-7744-6468-2338-E73DDA32AA89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137556" y="6358621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r>
              <a:t>© Tim Carpenter 2024</a:t>
            </a:r>
          </a:p>
        </p:txBody>
      </p:sp>
      <p:pic>
        <p:nvPicPr>
          <p:cNvPr id="27" name="Picture 10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071a4f976c0a4137">
            <a:alphaModFix amt="28000"/>
          </a:blip>
          <a:stretch xmlns:a="http://schemas.openxmlformats.org/drawingml/2006/main"/>
        </p:blipFill>
        <p:spPr>
          <a:xfrm xmlns:a="http://schemas.openxmlformats.org/drawingml/2006/main">
            <a:off x="10590687" y="5492510"/>
            <a:ext cx="1526225" cy="1197039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5.xml><?xml version="1.0" encoding="utf-8"?>
<p:sldLayout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AFFB4B2B-EBD7-897A-C262-268EC4BE965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C51E813C-3E6C-AE68-B226-C6FD3EFE476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9788" y="1681163"/>
            <a:ext cx="5157787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166CD796-C40A-1020-B4D5-B344846D29D7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839788" y="2505075"/>
            <a:ext cx="5157787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5" name="Text Placeholder 4">
            <a:extLst xmlns:a="http://schemas.openxmlformats.org/drawingml/2006/main">
              <a:ext uri="{FF2B5EF4-FFF2-40B4-BE49-F238E27FC236}">
                <a16:creationId xmlns:a16="http://schemas.microsoft.com/office/drawing/2014/main" id="{B8914628-58A6-DA78-A619-B9BF81D2BCFD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6172200" y="1681163"/>
            <a:ext cx="5183188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6" name="Content Placeholder 5">
            <a:extLst xmlns:a="http://schemas.openxmlformats.org/drawingml/2006/main">
              <a:ext uri="{FF2B5EF4-FFF2-40B4-BE49-F238E27FC236}">
                <a16:creationId xmlns:a16="http://schemas.microsoft.com/office/drawing/2014/main" id="{E4F7B6B7-25B8-12E8-AF86-BF2C33C07444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6172200" y="2505075"/>
            <a:ext cx="5183188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9" name="Slide Number Placeholder 8">
            <a:extLst xmlns:a="http://schemas.openxmlformats.org/drawingml/2006/main">
              <a:ext uri="{FF2B5EF4-FFF2-40B4-BE49-F238E27FC236}">
                <a16:creationId xmlns:a16="http://schemas.microsoft.com/office/drawing/2014/main" id="{7AD47AF6-33A9-6B39-7A72-07C6D36764E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1038E6D-FA33-47E9-9599-ABA915C5198A}" type="slidenum">
              <a:t>‹#›</a:t>
            </a:fld>
          </a:p>
        </p:txBody>
      </p:sp>
      <p:sp>
        <p:nvSpPr>
          <p:cNvPr id="10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F793A1B9-3B80-9879-3F5C-508512892F5F}"/>
              </a:ext>
            </a:extLst>
          </p:cNvPr>
          <p:cNvSpPr>
            <a:spLocks xmlns:a="http://schemas.openxmlformats.org/drawingml/2006/main" noGrp="1"/>
          </p:cNvSpPr>
          <p:nvPr>
            <p:ph type="ftr" idx="13"/>
          </p:nvPr>
        </p:nvSpPr>
        <p:spPr>
          <a:xfrm xmlns:a="http://schemas.openxmlformats.org/drawingml/2006/main">
            <a:off x="137556" y="6358621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r>
              <a:t>© Tim Carpenter 2024</a:t>
            </a:r>
          </a:p>
        </p:txBody>
      </p:sp>
      <p:pic>
        <p:nvPicPr>
          <p:cNvPr id="29" name="Picture 10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f897298d34b84788">
            <a:alphaModFix amt="28000"/>
          </a:blip>
          <a:stretch xmlns:a="http://schemas.openxmlformats.org/drawingml/2006/main"/>
        </p:blipFill>
        <p:spPr>
          <a:xfrm xmlns:a="http://schemas.openxmlformats.org/drawingml/2006/main">
            <a:off x="10590687" y="5492510"/>
            <a:ext cx="1526225" cy="1197039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6.xml><?xml version="1.0" encoding="utf-8"?>
<p:sldLayout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3FCEB483-C8E4-1939-38E2-143E8C2C465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146295CF-961A-17C4-4422-5FAAD161AA7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1038E6D-FA33-47E9-9599-ABA915C5198A}" type="slidenum">
              <a:t>‹#›</a:t>
            </a:fld>
          </a:p>
        </p:txBody>
      </p:sp>
      <p:sp>
        <p:nvSpPr>
          <p:cNvPr id="6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E198F76D-7C9E-684E-83A2-F78F7204BBEF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137556" y="6358621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r>
              <a:t>© Tim Carpenter 2024</a:t>
            </a:r>
          </a:p>
        </p:txBody>
      </p:sp>
      <p:pic>
        <p:nvPicPr>
          <p:cNvPr id="25" name="Picture 10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87f00055448042a3">
            <a:alphaModFix amt="28000"/>
          </a:blip>
          <a:stretch xmlns:a="http://schemas.openxmlformats.org/drawingml/2006/main"/>
        </p:blipFill>
        <p:spPr>
          <a:xfrm xmlns:a="http://schemas.openxmlformats.org/drawingml/2006/main">
            <a:off x="10590687" y="5492510"/>
            <a:ext cx="1526225" cy="1197039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7.xml><?xml version="1.0" encoding="utf-8"?>
<p:sldLayout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Slide Number Placeholder 3">
            <a:extLst xmlns:a="http://schemas.openxmlformats.org/drawingml/2006/main">
              <a:ext uri="{FF2B5EF4-FFF2-40B4-BE49-F238E27FC236}">
                <a16:creationId xmlns:a16="http://schemas.microsoft.com/office/drawing/2014/main" id="{7A2153FD-6EE3-927D-E92C-AD8A725CBED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1038E6D-FA33-47E9-9599-ABA915C5198A}" type="slidenum">
              <a:t>‹#›</a:t>
            </a:fld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E817CC06-6DDB-43E3-DC6C-5B8757B339EF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137556" y="6358621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r>
              <a:t>© Tim Carpenter 2024</a:t>
            </a:r>
          </a:p>
        </p:txBody>
      </p:sp>
      <p:pic>
        <p:nvPicPr>
          <p:cNvPr id="24" name="Picture 10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70adef3f3c184d30">
            <a:alphaModFix amt="28000"/>
          </a:blip>
          <a:stretch xmlns:a="http://schemas.openxmlformats.org/drawingml/2006/main"/>
        </p:blipFill>
        <p:spPr>
          <a:xfrm xmlns:a="http://schemas.openxmlformats.org/drawingml/2006/main">
            <a:off x="10590687" y="5492510"/>
            <a:ext cx="1526225" cy="1197039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8.xml><?xml version="1.0" encoding="utf-8"?>
<p:sldLayout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E09BE86E-8041-6262-7462-5F74302C6B3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1028E74F-C33A-2B50-1388-4D9B8C90B9A4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5183188" y="987425"/>
            <a:ext cx="6172200" cy="4873625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83BB12FA-7CBC-383A-FB9A-76C44F3BFEDE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541DD9D1-AA59-4234-5101-B7789D2F77C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1038E6D-FA33-47E9-9599-ABA915C5198A}" type="slidenum">
              <a:t>‹#›</a:t>
            </a:fld>
          </a:p>
        </p:txBody>
      </p:sp>
      <p:sp>
        <p:nvSpPr>
          <p:cNvPr id="8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37516DE9-6B09-3815-23C9-1128F36E2F0F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137556" y="6358621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r>
              <a:t>© Tim Carpenter 2024</a:t>
            </a:r>
          </a:p>
        </p:txBody>
      </p:sp>
      <p:pic>
        <p:nvPicPr>
          <p:cNvPr id="27" name="Picture 10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ef9990b804fc4800">
            <a:alphaModFix amt="28000"/>
          </a:blip>
          <a:stretch xmlns:a="http://schemas.openxmlformats.org/drawingml/2006/main"/>
        </p:blipFill>
        <p:spPr>
          <a:xfrm xmlns:a="http://schemas.openxmlformats.org/drawingml/2006/main">
            <a:off x="10590687" y="5492510"/>
            <a:ext cx="1526225" cy="1197039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9.xml><?xml version="1.0" encoding="utf-8"?>
<p:sldLayout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7FCFA6B7-9D69-735A-E926-4416D17716D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Picture Placeholder 2">
            <a:extLst xmlns:a="http://schemas.openxmlformats.org/drawingml/2006/main">
              <a:ext uri="{FF2B5EF4-FFF2-40B4-BE49-F238E27FC236}">
                <a16:creationId xmlns:a16="http://schemas.microsoft.com/office/drawing/2014/main" id="{C86DB7F7-4E31-55AE-507B-BF19F2D4F507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5183188" y="987425"/>
            <a:ext cx="6172200" cy="4873625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 xmlns:a="http://schemas.openxmlformats.org/drawingml/2006/main"/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0910AB72-D347-A0D1-09AD-464CA22BA74E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FCAC0EC3-9A02-6817-1AD1-E884E7BA54C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1038E6D-FA33-47E9-9599-ABA915C5198A}" type="slidenum">
              <a:t>‹#›</a:t>
            </a:fld>
          </a:p>
        </p:txBody>
      </p:sp>
      <p:sp>
        <p:nvSpPr>
          <p:cNvPr id="8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3CC35688-CEE5-57AE-D35E-231B71BD0ACF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137556" y="6358621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r>
              <a:t>© Tim Carpenter 2024</a:t>
            </a:r>
          </a:p>
        </p:txBody>
      </p:sp>
      <p:pic>
        <p:nvPicPr>
          <p:cNvPr id="27" name="Picture 10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d25afc963a9644bc">
            <a:alphaModFix amt="28000"/>
          </a:blip>
          <a:stretch xmlns:a="http://schemas.openxmlformats.org/drawingml/2006/main"/>
        </p:blipFill>
        <p:spPr>
          <a:xfrm xmlns:a="http://schemas.openxmlformats.org/drawingml/2006/main">
            <a:off x="10590687" y="5492510"/>
            <a:ext cx="1526225" cy="1197039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10.xml><?xml version="1.0" encoding="utf-8"?>
<p:sldLayout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FFD1B9AF-39AC-B0C4-144B-75DC396DA23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F7274C17-AC95-6D65-E5F5-345957FDC05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E48C1558-F77E-F6C8-CF31-C04964B8E4C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1038E6D-FA33-47E9-9599-ABA915C5198A}" type="slidenum">
              <a:t>‹#›</a:t>
            </a:fld>
          </a:p>
        </p:txBody>
      </p:sp>
      <p:sp>
        <p:nvSpPr>
          <p:cNvPr id="7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176EA422-06F7-D957-5CC8-8F1F313EC979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137556" y="6358621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r>
              <a:t>© Tim Carpenter 2024</a:t>
            </a:r>
          </a:p>
        </p:txBody>
      </p:sp>
      <p:pic>
        <p:nvPicPr>
          <p:cNvPr id="26" name="Picture 10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a236ec6325b64382">
            <a:alphaModFix amt="28000"/>
          </a:blip>
          <a:stretch xmlns:a="http://schemas.openxmlformats.org/drawingml/2006/main"/>
        </p:blipFill>
        <p:spPr>
          <a:xfrm xmlns:a="http://schemas.openxmlformats.org/drawingml/2006/main">
            <a:off x="10590687" y="5492510"/>
            <a:ext cx="1526225" cy="1197039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11.xml><?xml version="1.0" encoding="utf-8"?>
<p:sldLayout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Vertical Title 1">
            <a:extLst xmlns:a="http://schemas.openxmlformats.org/drawingml/2006/main">
              <a:ext uri="{FF2B5EF4-FFF2-40B4-BE49-F238E27FC236}">
                <a16:creationId xmlns:a16="http://schemas.microsoft.com/office/drawing/2014/main" id="{DB701E9E-F58B-AB7A-4F4A-7CF22B8DF10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724900" y="365125"/>
            <a:ext cx="2628900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D08B1211-BEE6-97FE-18F8-0091FB8F779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365125"/>
            <a:ext cx="7734300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82643978-8BED-40E0-988F-1E41DB3473E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1038E6D-FA33-47E9-9599-ABA915C5198A}" type="slidenum">
              <a:t>‹#›</a:t>
            </a:fld>
          </a:p>
        </p:txBody>
      </p:sp>
      <p:sp>
        <p:nvSpPr>
          <p:cNvPr id="7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23512B7D-FB40-4AD4-49F8-ABCCF2DAB553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137556" y="6358621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r>
              <a:t>© Tim Carpenter 2024</a:t>
            </a:r>
          </a:p>
        </p:txBody>
      </p:sp>
      <p:pic>
        <p:nvPicPr>
          <p:cNvPr id="26" name="Picture 10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b6b96e1a55bf4416">
            <a:alphaModFix amt="28000"/>
          </a:blip>
          <a:stretch xmlns:a="http://schemas.openxmlformats.org/drawingml/2006/main"/>
        </p:blipFill>
        <p:spPr>
          <a:xfrm xmlns:a="http://schemas.openxmlformats.org/drawingml/2006/main">
            <a:off x="10590687" y="5492510"/>
            <a:ext cx="1526225" cy="1197039"/>
          </a:xfrm>
          <a:prstGeom xmlns:a="http://schemas.openxmlformats.org/drawingml/2006/main" prst="rect">
            <a:avLst/>
          </a:prstGeom>
        </p:spPr>
      </p:pic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ab2470cd7d4441e" /><Relationship Type="http://schemas.openxmlformats.org/officeDocument/2006/relationships/slideLayout" Target="/ppt/slideLayouts/slideLayout1.xml" Id="Rff5ebe2fd2084a2c" /><Relationship Type="http://schemas.openxmlformats.org/officeDocument/2006/relationships/slideLayout" Target="/ppt/slideLayouts/slideLayout2.xml" Id="Re9c9ad4bdc9b4123" /><Relationship Type="http://schemas.openxmlformats.org/officeDocument/2006/relationships/slideLayout" Target="/ppt/slideLayouts/slideLayout3.xml" Id="R5faaa4b19dc34f8e" /><Relationship Type="http://schemas.openxmlformats.org/officeDocument/2006/relationships/slideLayout" Target="/ppt/slideLayouts/slideLayout4.xml" Id="Ra1f2550b2bda4e5b" /><Relationship Type="http://schemas.openxmlformats.org/officeDocument/2006/relationships/slideLayout" Target="/ppt/slideLayouts/slideLayout5.xml" Id="R50db350aad8f42b1" /><Relationship Type="http://schemas.openxmlformats.org/officeDocument/2006/relationships/slideLayout" Target="/ppt/slideLayouts/slideLayout6.xml" Id="R9ccd8acc765a4346" /><Relationship Type="http://schemas.openxmlformats.org/officeDocument/2006/relationships/slideLayout" Target="/ppt/slideLayouts/slideLayout7.xml" Id="Ra3c4642cc70f42ec" /><Relationship Type="http://schemas.openxmlformats.org/officeDocument/2006/relationships/slideLayout" Target="/ppt/slideLayouts/slideLayout8.xml" Id="Rd3d41ec357a24cd4" /><Relationship Type="http://schemas.openxmlformats.org/officeDocument/2006/relationships/slideLayout" Target="/ppt/slideLayouts/slideLayout9.xml" Id="R2f186c40196d46b7" /><Relationship Type="http://schemas.openxmlformats.org/officeDocument/2006/relationships/slideLayout" Target="/ppt/slideLayouts/slideLayout10.xml" Id="R7dc0171911e64624" /><Relationship Type="http://schemas.openxmlformats.org/officeDocument/2006/relationships/slideLayout" Target="/ppt/slideLayouts/slideLayout11.xml" Id="Rd0ba3994e092414a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0F1E21F5-9F35-B093-A31C-887A66DCF43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5125"/>
            <a:ext cx="10515600" cy="13255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F132DE42-434F-8FAC-25DC-394A4A94E5F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513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F68EFC8B-5FB5-A137-F95A-878BCA4FEDCF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825222" y="6510367"/>
            <a:ext cx="374325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/>
                </a:solidFill>
              </a:defRPr>
            </a:lvl1pPr>
          </a:lstStyle>
          <a:p xmlns:a="http://schemas.openxmlformats.org/drawingml/2006/main">
            <a:fld id="{61038E6D-FA33-47E9-9599-ABA915C5198A}" type="slidenum">
              <a:t>‹#›</a:t>
            </a:fld>
          </a:p>
        </p:txBody>
      </p:sp>
      <p:sp>
        <p:nvSpPr>
          <p:cNvPr id="15" name="TextBox 14">
            <a:extLst xmlns:a="http://schemas.openxmlformats.org/drawingml/2006/main">
              <a:ext uri="{FF2B5EF4-FFF2-40B4-BE49-F238E27FC236}">
                <a16:creationId xmlns:a16="http://schemas.microsoft.com/office/drawing/2014/main" id="{BE2C9504-6A79-6DD8-74E5-098CA9D6E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615" y="6492875"/>
            <a:ext cx="6095010" cy="20005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700">
                <a:solidFill>
                  <a:schemeClr val="bg2">
                    <a:lumMod val="90000"/>
                  </a:schemeClr>
                </a:solidFill>
              </a:rPr>
              <a:t>© Tim Carpenter 2024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f5ebe2fd2084a2c"/>
    <p:sldLayoutId xmlns:r="http://schemas.openxmlformats.org/officeDocument/2006/relationships" id="2147483650" r:id="Re9c9ad4bdc9b4123"/>
    <p:sldLayoutId xmlns:r="http://schemas.openxmlformats.org/officeDocument/2006/relationships" id="2147483651" r:id="R5faaa4b19dc34f8e"/>
    <p:sldLayoutId xmlns:r="http://schemas.openxmlformats.org/officeDocument/2006/relationships" id="2147483652" r:id="Ra1f2550b2bda4e5b"/>
    <p:sldLayoutId xmlns:r="http://schemas.openxmlformats.org/officeDocument/2006/relationships" id="2147483653" r:id="R50db350aad8f42b1"/>
    <p:sldLayoutId xmlns:r="http://schemas.openxmlformats.org/officeDocument/2006/relationships" id="2147483654" r:id="R9ccd8acc765a4346"/>
    <p:sldLayoutId xmlns:r="http://schemas.openxmlformats.org/officeDocument/2006/relationships" id="2147483655" r:id="Ra3c4642cc70f42ec"/>
    <p:sldLayoutId xmlns:r="http://schemas.openxmlformats.org/officeDocument/2006/relationships" id="2147483656" r:id="Rd3d41ec357a24cd4"/>
    <p:sldLayoutId xmlns:r="http://schemas.openxmlformats.org/officeDocument/2006/relationships" id="2147483657" r:id="R2f186c40196d46b7"/>
    <p:sldLayoutId xmlns:r="http://schemas.openxmlformats.org/officeDocument/2006/relationships" id="2147483658" r:id="R7dc0171911e64624"/>
    <p:sldLayoutId xmlns:r="http://schemas.openxmlformats.org/officeDocument/2006/relationships" id="2147483659" r:id="Rd0ba3994e092414a"/>
  </p:sldLayoutIdLst>
  <p:hf hdr="0" ftr="0" dt="0"/>
  <p:txStyles>
    <p:titleStyle>
      <a:lvl1pPr xmlns:a="http://schemas.openxmlformats.org/drawingml/2006/main" algn="l" defTabSz="914400">
        <a:lnSpc>
          <a:spcPct val="90000"/>
        </a:lnSpc>
        <a:spcBef>
          <a:spcPct val="0"/>
        </a:spcBef>
        <a:buNone/>
        <a:defRPr sz="4400" b="1" kern="1200">
          <a:solidFill>
            <a:schemeClr val="tx1"/>
          </a:solidFill>
          <a:latin typeface="+mn-lt"/>
          <a:ea typeface="+mn-lt"/>
          <a:cs typeface="+mn-lt"/>
        </a:defRPr>
      </a:lvl1pPr>
    </p:titleStyle>
    <p:bodyStyle>
      <a:lvl1pPr xmlns:a="http://schemas.openxmlformats.org/drawingml/2006/main"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6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6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492df5fc3a64afd" /><Relationship Type="http://schemas.openxmlformats.org/officeDocument/2006/relationships/notesSlide" Target="/ppt/notesSlides/notesSlide1.xml" Id="R52020522280749c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f8c70f36906247f5" /><Relationship Type="http://schemas.openxmlformats.org/officeDocument/2006/relationships/notesSlide" Target="/ppt/notesSlides/notesSlide2.xml" Id="Ra2823caf05d4455c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f805e805642409c" /><Relationship Type="http://schemas.openxmlformats.org/officeDocument/2006/relationships/notesSlide" Target="/ppt/notesSlides/notesSlide3.xml" Id="R3c525050b3d24304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67c711839e845ea" /><Relationship Type="http://schemas.openxmlformats.org/officeDocument/2006/relationships/notesSlide" Target="/ppt/notesSlides/notesSlide4.xml" Id="R36a1d1ade83241de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eafa1c7bc1248ac" /><Relationship Type="http://schemas.openxmlformats.org/officeDocument/2006/relationships/notesSlide" Target="/ppt/notesSlides/notesSlide5.xml" Id="R5e4a95202b98449d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02118c308154430" /><Relationship Type="http://schemas.openxmlformats.org/officeDocument/2006/relationships/notesSlide" Target="/ppt/notesSlides/notesSlide6.xml" Id="Rc1a5c38e54a14f58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74b06a24d4849df" /><Relationship Type="http://schemas.openxmlformats.org/officeDocument/2006/relationships/notesSlide" Target="/ppt/notesSlides/notesSlide7.xml" Id="R33f1208917fd42e2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9a055523cf140c0" /><Relationship Type="http://schemas.openxmlformats.org/officeDocument/2006/relationships/notesSlide" Target="/ppt/notesSlides/notesSlide8.xml" Id="R114fc430838e4fee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305408a155045db" /><Relationship Type="http://schemas.openxmlformats.org/officeDocument/2006/relationships/notesSlide" Target="/ppt/notesSlides/notesSlide9.xml" Id="R0f3287a558dc4404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989DEFA5-464B-5CD3-16E7-8CA8E9D38CFA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/>
        <p:txBody>
          <a:bodyPr xmlns:a="http://schemas.openxmlformats.org/drawingml/2006/main" wrap="none" anchor="ctr">
            <a:normAutofit fontScale="100000"/>
          </a:bodyPr>
          <a:lstStyle xmlns:a="http://schemas.openxmlformats.org/drawingml/2006/main"/>
          <a:p xmlns:a="http://schemas.openxmlformats.org/drawingml/2006/main">
            <a:r>
              <a:rPr>
                <a:latin typeface="+mn-lt"/>
                <a:ea typeface="+mn-lt"/>
                <a:cs typeface="+mn-lt"/>
              </a:rPr>
              <a:t>Several Functions</a:t>
            </a:r>
          </a:p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6EB4471D-A6DC-90AA-7CE6-A3673F8BDA83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Lesson 34</a:t>
            </a:r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3BE4468F-4F18-FF8F-2544-E216C0ACCBB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AD75FED6-38D0-DE9C-92C0-6E7FA635581C}" type="slidenum">
              <a:t>1</a:t>
            </a:fld>
          </a:p>
        </p:txBody>
      </p:sp>
    </p:spTree>
    <p:extLst>
      <p:ext uri="{BB962C8B-B14F-4D97-AF65-F5344CB8AC3E}">
        <p14:creationId xmlns:p14="http://schemas.microsoft.com/office/powerpoint/2010/main" val="3800850190"/>
      </p:ext>
    </p:extLst>
  </p:cSld>
</p:sld>
</file>

<file path=ppt/slides/slide2.xml><?xml version="1.0" encoding="utf-8"?>
<p:sld xmlns:p="http://schemas.openxmlformats.org/presentationml/2006/main" show="0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Rectangle 1">
            <a:extLst xmlns:a="http://schemas.openxmlformats.org/drawingml/2006/main">
              <a:ext uri="{FF2B5EF4-FFF2-40B4-BE49-F238E27FC236}">
                <a16:creationId xmlns:a16="http://schemas.microsoft.com/office/drawing/2014/main" id="{14E72FCF-5E06-85EB-F7FD-E1261A305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577" y="1749737"/>
            <a:ext cx="10956846" cy="19389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none" lIns="91440" tIns="45720" rIns="91440" bIns="45720" anchor="t">
            <a:normAutofit fontScale="10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400">
                <a:solidFill>
                  <a:srgbClr val="C45E00"/>
                </a:solidFill>
                <a:latin typeface="JetBrains Mono"/>
                <a:ea typeface="JetBrains Mono"/>
                <a:cs typeface="JetBrains Mono"/>
              </a:rPr>
              <a:t>def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double(number):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   </a:t>
            </a:r>
            <a:r>
              <a:rPr sz="2400">
                <a:solidFill>
                  <a:srgbClr val="C45E00"/>
                </a:solidFill>
                <a:latin typeface="JetBrains Mono"/>
                <a:ea typeface="JetBrains Mono"/>
                <a:cs typeface="JetBrains Mono"/>
              </a:rPr>
              <a:t>return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number * 2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400">
                <a:solidFill>
                  <a:srgbClr val="C45E00"/>
                </a:solidFill>
                <a:latin typeface="JetBrains Mono"/>
                <a:ea typeface="JetBrains Mono"/>
                <a:cs typeface="JetBrains Mono"/>
              </a:rPr>
              <a:t>def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square(number):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   </a:t>
            </a:r>
            <a:r>
              <a:rPr sz="2400">
                <a:solidFill>
                  <a:srgbClr val="C45E00"/>
                </a:solidFill>
                <a:latin typeface="JetBrains Mono"/>
                <a:ea typeface="JetBrains Mono"/>
                <a:cs typeface="JetBrains Mono"/>
              </a:rPr>
              <a:t>return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number * number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4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print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24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"1: double\n2: square"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)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choice = </a:t>
            </a:r>
            <a:r>
              <a:rPr sz="24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input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24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"Choice: "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)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value = </a:t>
            </a:r>
            <a:r>
              <a:rPr sz="24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int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24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input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24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"Number: "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))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400">
                <a:solidFill>
                  <a:srgbClr val="C45E00"/>
                </a:solidFill>
                <a:latin typeface="JetBrains Mono"/>
                <a:ea typeface="JetBrains Mono"/>
                <a:cs typeface="JetBrains Mono"/>
              </a:rPr>
              <a:t>if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choice </a:t>
            </a:r>
            <a:r>
              <a:rPr sz="2400">
                <a:solidFill>
                  <a:srgbClr val="080808"/>
                </a:solidFill>
                <a:latin typeface="Consolas"/>
                <a:ea typeface="Consolas"/>
                <a:cs typeface="Consolas"/>
              </a:rPr>
              <a:t>==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</a:t>
            </a:r>
            <a:r>
              <a:rPr sz="24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"1"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: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   </a:t>
            </a:r>
            <a:r>
              <a:rPr sz="24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print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24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"Result:"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, double(value))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400">
                <a:solidFill>
                  <a:srgbClr val="C45E00"/>
                </a:solidFill>
                <a:latin typeface="JetBrains Mono"/>
                <a:ea typeface="JetBrains Mono"/>
                <a:cs typeface="JetBrains Mono"/>
              </a:rPr>
              <a:t>else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: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   </a:t>
            </a:r>
            <a:r>
              <a:rPr sz="24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print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24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"Result:"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, square(value))</a:t>
            </a:r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820BA63F-E9FE-C334-C48D-C94A3747F55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2598689-54C9-18A7-3A19-ED76AA08988F}" type="slidenum">
              <a:t>2</a:t>
            </a:fld>
          </a:p>
        </p:txBody>
      </p:sp>
    </p:spTree>
    <p:extLst>
      <p:ext uri="{BB962C8B-B14F-4D97-AF65-F5344CB8AC3E}">
        <p14:creationId xmlns:p14="http://schemas.microsoft.com/office/powerpoint/2010/main" val="1917660197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142E218C-699D-6EC5-2CB5-B8B2CF083A9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 wrap="none" anchor="ctr">
            <a:normAutofit fontScale="100000"/>
          </a:bodyPr>
          <a:lstStyle xmlns:a="http://schemas.openxmlformats.org/drawingml/2006/main"/>
          <a:p xmlns:a="http://schemas.openxmlformats.org/drawingml/2006/main">
            <a:r>
              <a:t>Look at this code:</a:t>
            </a:r>
          </a:p>
        </p:txBody>
      </p:sp>
      <p:sp>
        <p:nvSpPr>
          <p:cNvPr id="9" name="Rectangle 1">
            <a:extLst xmlns:a="http://schemas.openxmlformats.org/drawingml/2006/main">
              <a:ext uri="{FF2B5EF4-FFF2-40B4-BE49-F238E27FC236}">
                <a16:creationId xmlns:a16="http://schemas.microsoft.com/office/drawing/2014/main" id="{426873F0-29A2-F81A-C501-1BA80955C3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8576" y="1859340"/>
            <a:ext cx="8824852" cy="15696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none" lIns="91440" tIns="45720" rIns="91440" bIns="45720" anchor="t">
            <a:normAutofit fontScale="10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400">
                <a:solidFill>
                  <a:srgbClr val="C45E00"/>
                </a:solidFill>
                <a:latin typeface="JetBrains Mono"/>
                <a:ea typeface="JetBrains Mono"/>
                <a:cs typeface="JetBrains Mono"/>
              </a:rPr>
              <a:t>def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double(number):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   </a:t>
            </a:r>
            <a:r>
              <a:rPr sz="2400">
                <a:solidFill>
                  <a:srgbClr val="C45E00"/>
                </a:solidFill>
                <a:latin typeface="JetBrains Mono"/>
                <a:ea typeface="JetBrains Mono"/>
                <a:cs typeface="JetBrains Mono"/>
              </a:rPr>
              <a:t>return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number * 2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400">
                <a:solidFill>
                  <a:srgbClr val="C45E00"/>
                </a:solidFill>
                <a:latin typeface="JetBrains Mono"/>
                <a:ea typeface="JetBrains Mono"/>
                <a:cs typeface="JetBrains Mono"/>
              </a:rPr>
              <a:t>def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square(number):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   </a:t>
            </a:r>
            <a:r>
              <a:rPr sz="2400">
                <a:solidFill>
                  <a:srgbClr val="C45E00"/>
                </a:solidFill>
                <a:latin typeface="JetBrains Mono"/>
                <a:ea typeface="JetBrains Mono"/>
                <a:cs typeface="JetBrains Mono"/>
              </a:rPr>
              <a:t>return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number * number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4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print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24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"1: double\n2: square"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)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choice = </a:t>
            </a:r>
            <a:r>
              <a:rPr sz="24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input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24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"Choice: "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)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value = </a:t>
            </a:r>
            <a:r>
              <a:rPr sz="24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int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24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input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24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"Number: "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))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400">
                <a:solidFill>
                  <a:srgbClr val="C45E00"/>
                </a:solidFill>
                <a:latin typeface="JetBrains Mono"/>
                <a:ea typeface="JetBrains Mono"/>
                <a:cs typeface="JetBrains Mono"/>
              </a:rPr>
              <a:t>if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choice </a:t>
            </a:r>
            <a:r>
              <a:rPr sz="2400">
                <a:solidFill>
                  <a:srgbClr val="080808"/>
                </a:solidFill>
                <a:latin typeface="Consolas"/>
                <a:ea typeface="Consolas"/>
                <a:cs typeface="Consolas"/>
              </a:rPr>
              <a:t>==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</a:t>
            </a:r>
            <a:r>
              <a:rPr sz="24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"1"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: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   </a:t>
            </a:r>
            <a:r>
              <a:rPr sz="24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print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24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"Result:"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, double(value))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400">
                <a:solidFill>
                  <a:srgbClr val="C45E00"/>
                </a:solidFill>
                <a:latin typeface="JetBrains Mono"/>
                <a:ea typeface="JetBrains Mono"/>
                <a:cs typeface="JetBrains Mono"/>
              </a:rPr>
              <a:t>else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: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   </a:t>
            </a:r>
            <a:r>
              <a:rPr sz="24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print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24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"Result:"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, square(value))</a:t>
            </a:r>
          </a:p>
        </p:txBody>
      </p:sp>
      <p:sp>
        <p:nvSpPr>
          <p:cNvPr id="13" name="Slide Number Placeholder 12">
            <a:extLst xmlns:a="http://schemas.openxmlformats.org/drawingml/2006/main">
              <a:ext uri="{FF2B5EF4-FFF2-40B4-BE49-F238E27FC236}">
                <a16:creationId xmlns:a16="http://schemas.microsoft.com/office/drawing/2014/main" id="{D887D507-89E7-7D8D-8C34-78ACD3DB74E4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202359C0-8A7A-196E-DD58-8E6569619F09}" type="slidenum">
              <a:t>3</a:t>
            </a:fld>
          </a:p>
        </p:txBody>
      </p:sp>
    </p:spTree>
    <p:extLst>
      <p:ext uri="{BB962C8B-B14F-4D97-AF65-F5344CB8AC3E}">
        <p14:creationId xmlns:p14="http://schemas.microsoft.com/office/powerpoint/2010/main" val="726653081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AE5F9C57-C2E5-F6D8-D85A-2011D9F51DB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 wrap="none" anchor="ctr">
            <a:normAutofit fontScale="100000"/>
          </a:bodyPr>
          <a:lstStyle xmlns:a="http://schemas.openxmlformats.org/drawingml/2006/main"/>
          <a:p xmlns:a="http://schemas.openxmlformats.org/drawingml/2006/main">
            <a:r>
              <a:t>What do you think this code will do?</a:t>
            </a:r>
          </a:p>
        </p:txBody>
      </p:sp>
      <p:sp>
        <p:nvSpPr>
          <p:cNvPr id="6" name="Rectangle 1">
            <a:extLst xmlns:a="http://schemas.openxmlformats.org/drawingml/2006/main">
              <a:ext uri="{FF2B5EF4-FFF2-40B4-BE49-F238E27FC236}">
                <a16:creationId xmlns:a16="http://schemas.microsoft.com/office/drawing/2014/main" id="{94A964A3-7CB4-7BBD-D3F2-79A86FCF2E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8576" y="1859340"/>
            <a:ext cx="8824852" cy="15696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none" lIns="91440" tIns="45720" rIns="91440" bIns="45720" anchor="t">
            <a:normAutofit fontScale="10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400">
                <a:solidFill>
                  <a:srgbClr val="C45E00"/>
                </a:solidFill>
                <a:latin typeface="JetBrains Mono"/>
                <a:ea typeface="JetBrains Mono"/>
                <a:cs typeface="JetBrains Mono"/>
              </a:rPr>
              <a:t>def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double(number):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   </a:t>
            </a:r>
            <a:r>
              <a:rPr sz="2400">
                <a:solidFill>
                  <a:srgbClr val="C45E00"/>
                </a:solidFill>
                <a:latin typeface="JetBrains Mono"/>
                <a:ea typeface="JetBrains Mono"/>
                <a:cs typeface="JetBrains Mono"/>
              </a:rPr>
              <a:t>return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number * 2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400">
                <a:solidFill>
                  <a:srgbClr val="C45E00"/>
                </a:solidFill>
                <a:latin typeface="JetBrains Mono"/>
                <a:ea typeface="JetBrains Mono"/>
                <a:cs typeface="JetBrains Mono"/>
              </a:rPr>
              <a:t>def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square(number):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   </a:t>
            </a:r>
            <a:r>
              <a:rPr sz="2400">
                <a:solidFill>
                  <a:srgbClr val="C45E00"/>
                </a:solidFill>
                <a:latin typeface="JetBrains Mono"/>
                <a:ea typeface="JetBrains Mono"/>
                <a:cs typeface="JetBrains Mono"/>
              </a:rPr>
              <a:t>return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number * number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4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print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24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"1: double\n2: square"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)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choice = </a:t>
            </a:r>
            <a:r>
              <a:rPr sz="24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input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24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"Choice: "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)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value = </a:t>
            </a:r>
            <a:r>
              <a:rPr sz="24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int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24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input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24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"Number: "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))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400">
                <a:solidFill>
                  <a:srgbClr val="C45E00"/>
                </a:solidFill>
                <a:latin typeface="JetBrains Mono"/>
                <a:ea typeface="JetBrains Mono"/>
                <a:cs typeface="JetBrains Mono"/>
              </a:rPr>
              <a:t>if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choice </a:t>
            </a:r>
            <a:r>
              <a:rPr sz="2400">
                <a:solidFill>
                  <a:srgbClr val="080808"/>
                </a:solidFill>
                <a:latin typeface="Consolas"/>
                <a:ea typeface="Consolas"/>
                <a:cs typeface="Consolas"/>
              </a:rPr>
              <a:t>==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</a:t>
            </a:r>
            <a:r>
              <a:rPr sz="24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"1"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: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   </a:t>
            </a:r>
            <a:r>
              <a:rPr sz="24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print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24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"Result:"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, double(value))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400">
                <a:solidFill>
                  <a:srgbClr val="C45E00"/>
                </a:solidFill>
                <a:latin typeface="JetBrains Mono"/>
                <a:ea typeface="JetBrains Mono"/>
                <a:cs typeface="JetBrains Mono"/>
              </a:rPr>
              <a:t>else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: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   </a:t>
            </a:r>
            <a:r>
              <a:rPr sz="24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print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24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"Result:"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, square(value))</a:t>
            </a:r>
          </a:p>
        </p:txBody>
      </p:sp>
      <p:sp>
        <p:nvSpPr>
          <p:cNvPr id="9" name="Slide Number Placeholder 8">
            <a:extLst xmlns:a="http://schemas.openxmlformats.org/drawingml/2006/main">
              <a:ext uri="{FF2B5EF4-FFF2-40B4-BE49-F238E27FC236}">
                <a16:creationId xmlns:a16="http://schemas.microsoft.com/office/drawing/2014/main" id="{DDDBE35E-DE92-4B4D-75A9-891D3E276B0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FD6AB9A-5F9E-5F59-51AB-3C8734130965}" type="slidenum">
              <a:t>4</a:t>
            </a:fld>
          </a:p>
        </p:txBody>
      </p:sp>
    </p:spTree>
    <p:extLst>
      <p:ext uri="{BB962C8B-B14F-4D97-AF65-F5344CB8AC3E}">
        <p14:creationId xmlns:p14="http://schemas.microsoft.com/office/powerpoint/2010/main" val="3517979783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4CB5EA7E-2DAD-0491-950A-43E595A22E4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 wrap="none" anchor="ctr">
            <a:normAutofit fontScale="100000"/>
          </a:bodyPr>
          <a:lstStyle xmlns:a="http://schemas.openxmlformats.org/drawingml/2006/main"/>
          <a:p xmlns:a="http://schemas.openxmlformats.org/drawingml/2006/main">
            <a:r>
              <a:rPr b="1"/>
              <a:t>Let’s investigate.</a:t>
            </a:r>
          </a:p>
        </p:txBody>
      </p:sp>
      <p:sp>
        <p:nvSpPr>
          <p:cNvPr id="4" name="Rectangle 1">
            <a:extLst xmlns:a="http://schemas.openxmlformats.org/drawingml/2006/main">
              <a:ext uri="{FF2B5EF4-FFF2-40B4-BE49-F238E27FC236}">
                <a16:creationId xmlns:a16="http://schemas.microsoft.com/office/drawing/2014/main" id="{9998CA8A-BAE1-D919-AD2C-1043AF60E6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232794"/>
            <a:ext cx="10182101" cy="338554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ctr">
            <a:normAutofit fontScale="100000"/>
          </a:bodyPr>
          <a:lstStyle xmlns:a="http://schemas.openxmlformats.org/drawingml/2006/main">
            <a:lvl1pPr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  <a:lvl2pPr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2pPr>
            <a:lvl3pPr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3pPr>
            <a:lvl4pPr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4pPr>
            <a:lvl5pPr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5pPr>
            <a:lvl6pPr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6pPr>
            <a:lvl7pPr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7pPr>
            <a:lvl8pPr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8pPr>
            <a:lvl9pPr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marL="0" indent="0">
              <a:spcAft>
                <a:spcPts val="16"/>
              </a:spcAft>
              <a:buNone/>
            </a:pPr>
            <a:r>
              <a:rPr sz="2600" b="1"/>
              <a:t>Answer the questions:</a:t>
            </a:r>
          </a:p>
          <a:p xmlns:a="http://schemas.openxmlformats.org/drawingml/2006/main">
            <a:pPr marL="0" indent="0">
              <a:spcAft>
                <a:spcPts val="8"/>
              </a:spcAft>
              <a:buNone/>
            </a:pPr>
            <a:r>
              <a:rPr sz="2000"/>
              <a:t>1. What separate job is performed by double() and square()?</a:t>
            </a:r>
          </a:p>
          <a:p xmlns:a="http://schemas.openxmlformats.org/drawingml/2006/main">
            <a:pPr marL="0" indent="0">
              <a:spcAft>
                <a:spcPts val="8"/>
              </a:spcAft>
              <a:buNone/>
            </a:pPr>
            <a:r>
              <a:rPr sz="2000"/>
              <a:t>2. What happens if choice is compared with the number 1 even though input() returned the string "1"?</a:t>
            </a:r>
          </a:p>
          <a:p xmlns:a="http://schemas.openxmlformats.org/drawingml/2006/main">
            <a:pPr marL="0" indent="0">
              <a:spcAft>
                <a:spcPts val="8"/>
              </a:spcAft>
              <a:buNone/>
            </a:pPr>
            <a:r>
              <a:rPr sz="2000"/>
              <a:t>3. What happens if the user enters 3, and why does the else branch call square() for that unexpected choice?</a:t>
            </a:r>
          </a:p>
          <a:p xmlns:a="http://schemas.openxmlformats.org/drawingml/2006/main">
            <a:pPr marL="0" indent="0">
              <a:spcAft>
                <a:spcPts val="8"/>
              </a:spcAft>
              <a:buNone/>
            </a:pPr>
            <a:r>
              <a:rPr sz="2000"/>
              <a:t>4. If the choice is 1 and the number is 6, what result appears?</a:t>
            </a:r>
          </a:p>
        </p:txBody>
      </p:sp>
      <p:sp>
        <p:nvSpPr>
          <p:cNvPr id="7" name="Rectangle 1">
            <a:extLst xmlns:a="http://schemas.openxmlformats.org/drawingml/2006/main">
              <a:ext uri="{FF2B5EF4-FFF2-40B4-BE49-F238E27FC236}">
                <a16:creationId xmlns:a16="http://schemas.microsoft.com/office/drawing/2014/main" id="{A313224D-AAE9-19C6-3D76-BCDB1D377AEA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954446" y="1280160"/>
            <a:ext cx="6474775" cy="16459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>
            <a:normAutofit fontScale="10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1100">
                <a:solidFill>
                  <a:srgbClr val="C45E00"/>
                </a:solidFill>
                <a:latin typeface="JetBrains Mono"/>
                <a:ea typeface="JetBrains Mono"/>
                <a:cs typeface="JetBrains Mono"/>
              </a:rPr>
              <a:t>def</a:t>
            </a:r>
            <a:r>
              <a:rPr sz="11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double(number):</a:t>
            </a:r>
            <a:br>
              <a:rPr sz="11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</a:br>
            <a:r>
              <a:rPr sz="11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   </a:t>
            </a:r>
            <a:r>
              <a:rPr sz="1100">
                <a:solidFill>
                  <a:srgbClr val="C45E00"/>
                </a:solidFill>
                <a:latin typeface="JetBrains Mono"/>
                <a:ea typeface="JetBrains Mono"/>
                <a:cs typeface="JetBrains Mono"/>
              </a:rPr>
              <a:t>return</a:t>
            </a:r>
            <a:r>
              <a:rPr sz="11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number * 2</a:t>
            </a:r>
            <a:br>
              <a:rPr sz="11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</a:br>
            <a:r>
              <a:rPr sz="1100">
                <a:solidFill>
                  <a:srgbClr val="C45E00"/>
                </a:solidFill>
                <a:latin typeface="JetBrains Mono"/>
                <a:ea typeface="JetBrains Mono"/>
                <a:cs typeface="JetBrains Mono"/>
              </a:rPr>
              <a:t>def</a:t>
            </a:r>
            <a:r>
              <a:rPr sz="11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square(number):</a:t>
            </a:r>
            <a:br>
              <a:rPr sz="11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</a:br>
            <a:r>
              <a:rPr sz="11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   </a:t>
            </a:r>
            <a:r>
              <a:rPr sz="1100">
                <a:solidFill>
                  <a:srgbClr val="C45E00"/>
                </a:solidFill>
                <a:latin typeface="JetBrains Mono"/>
                <a:ea typeface="JetBrains Mono"/>
                <a:cs typeface="JetBrains Mono"/>
              </a:rPr>
              <a:t>return</a:t>
            </a:r>
            <a:r>
              <a:rPr sz="11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number * number</a:t>
            </a:r>
            <a:br>
              <a:rPr sz="11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</a:br>
            <a:r>
              <a:rPr sz="11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print</a:t>
            </a:r>
            <a:r>
              <a:rPr sz="11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11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"1: double\n2: square"</a:t>
            </a:r>
            <a:r>
              <a:rPr sz="11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)</a:t>
            </a:r>
            <a:br>
              <a:rPr sz="11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</a:br>
            <a:r>
              <a:rPr sz="11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choice = </a:t>
            </a:r>
            <a:r>
              <a:rPr sz="11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input</a:t>
            </a:r>
            <a:r>
              <a:rPr sz="11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11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"Choice: "</a:t>
            </a:r>
            <a:r>
              <a:rPr sz="11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)</a:t>
            </a:r>
            <a:br>
              <a:rPr sz="11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</a:br>
            <a:r>
              <a:rPr sz="11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value = </a:t>
            </a:r>
            <a:r>
              <a:rPr sz="11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int</a:t>
            </a:r>
            <a:r>
              <a:rPr sz="11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11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input</a:t>
            </a:r>
            <a:r>
              <a:rPr sz="11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11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"Number: "</a:t>
            </a:r>
            <a:r>
              <a:rPr sz="11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))</a:t>
            </a:r>
            <a:br>
              <a:rPr sz="11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</a:br>
            <a:r>
              <a:rPr sz="1100">
                <a:solidFill>
                  <a:srgbClr val="C45E00"/>
                </a:solidFill>
                <a:latin typeface="JetBrains Mono"/>
                <a:ea typeface="JetBrains Mono"/>
                <a:cs typeface="JetBrains Mono"/>
              </a:rPr>
              <a:t>if</a:t>
            </a:r>
            <a:r>
              <a:rPr sz="11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choice </a:t>
            </a:r>
            <a:r>
              <a:rPr sz="1100">
                <a:solidFill>
                  <a:srgbClr val="080808"/>
                </a:solidFill>
                <a:latin typeface="Consolas"/>
                <a:ea typeface="Consolas"/>
                <a:cs typeface="Consolas"/>
              </a:rPr>
              <a:t>==</a:t>
            </a:r>
            <a:r>
              <a:rPr sz="11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</a:t>
            </a:r>
            <a:r>
              <a:rPr sz="11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"1"</a:t>
            </a:r>
            <a:r>
              <a:rPr sz="11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:</a:t>
            </a:r>
            <a:br>
              <a:rPr sz="11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</a:br>
            <a:r>
              <a:rPr sz="11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   </a:t>
            </a:r>
            <a:r>
              <a:rPr sz="11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print</a:t>
            </a:r>
            <a:r>
              <a:rPr sz="11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11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"Result:"</a:t>
            </a:r>
            <a:r>
              <a:rPr sz="11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, double(value))</a:t>
            </a:r>
            <a:br>
              <a:rPr sz="11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</a:br>
            <a:r>
              <a:rPr sz="1100">
                <a:solidFill>
                  <a:srgbClr val="C45E00"/>
                </a:solidFill>
                <a:latin typeface="JetBrains Mono"/>
                <a:ea typeface="JetBrains Mono"/>
                <a:cs typeface="JetBrains Mono"/>
              </a:rPr>
              <a:t>else</a:t>
            </a:r>
            <a:r>
              <a:rPr sz="11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:</a:t>
            </a:r>
            <a:br>
              <a:rPr sz="11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</a:br>
            <a:r>
              <a:rPr sz="11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   </a:t>
            </a:r>
            <a:r>
              <a:rPr sz="11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print</a:t>
            </a:r>
            <a:r>
              <a:rPr sz="11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11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"Result:"</a:t>
            </a:r>
            <a:r>
              <a:rPr sz="11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, square(value))</a:t>
            </a:r>
          </a:p>
        </p:txBody>
      </p:sp>
    </p:spTree>
    <p:extLst>
      <p:ext uri="{BB962C8B-B14F-4D97-AF65-F5344CB8AC3E}">
        <p14:creationId xmlns:p14="http://schemas.microsoft.com/office/powerpoint/2010/main" val="3941323505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2CFD3ACF-F271-8980-D873-F9D6FB9FB08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37569" y="2124718"/>
            <a:ext cx="3832073" cy="1325563"/>
          </a:xfrm>
        </p:spPr>
        <p:txBody>
          <a:bodyPr xmlns:a="http://schemas.openxmlformats.org/drawingml/2006/main" wrap="none" anchor="ctr">
            <a:normAutofit fontScale="100000"/>
          </a:bodyPr>
          <a:lstStyle xmlns:a="http://schemas.openxmlformats.org/drawingml/2006/main"/>
          <a:p xmlns:a="http://schemas.openxmlformats.org/drawingml/2006/main">
            <a:r>
              <a:t>Challenge 1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FE010D74-B7EC-9185-C8DF-767A2EA671F6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1294599" y="3405120"/>
            <a:ext cx="7425519" cy="2115403"/>
          </a:xfrm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400" b="0">
                <a:solidFill>
                  <a:srgbClr val="080808"/>
                </a:solidFill>
                <a:latin typeface="Calibri"/>
                <a:ea typeface="Calibri"/>
                <a:cs typeface="Calibri"/>
              </a:rPr>
              <a:t>Change the example's </a:t>
            </a:r>
            <a:r>
              <a:rPr sz="2050" b="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square()</a:t>
            </a:r>
            <a:r>
              <a:rPr sz="2400" b="0">
                <a:solidFill>
                  <a:srgbClr val="080808"/>
                </a:solidFill>
                <a:latin typeface="Calibri"/>
                <a:ea typeface="Calibri"/>
                <a:cs typeface="Calibri"/>
              </a:rPr>
              <a:t> function into </a:t>
            </a:r>
            <a:r>
              <a:rPr sz="2050" b="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triple</a:t>
            </a:r>
            <a:r>
              <a:rPr sz="2400" b="0">
                <a:solidFill>
                  <a:srgbClr val="080808"/>
                </a:solidFill>
                <a:latin typeface="Calibri"/>
                <a:ea typeface="Calibri"/>
                <a:cs typeface="Calibri"/>
              </a:rPr>
              <a:t>(number), which should </a:t>
            </a:r>
            <a:r>
              <a:rPr sz="2050" b="0">
                <a:solidFill>
                  <a:srgbClr val="C45E00"/>
                </a:solidFill>
                <a:latin typeface="JetBrains Mono"/>
                <a:ea typeface="JetBrains Mono"/>
                <a:cs typeface="JetBrains Mono"/>
              </a:rPr>
              <a:t>return</a:t>
            </a:r>
            <a:r>
              <a:rPr sz="2400" b="0">
                <a:solidFill>
                  <a:srgbClr val="080808"/>
                </a:solidFill>
                <a:latin typeface="Calibri"/>
                <a:ea typeface="Calibri"/>
                <a:cs typeface="Calibri"/>
              </a:rPr>
              <a:t> number * 3. Update the menu text and the function call so option </a:t>
            </a:r>
            <a:r>
              <a:rPr sz="2050" b="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"2"</a:t>
            </a:r>
            <a:r>
              <a:rPr sz="2400" b="0">
                <a:solidFill>
                  <a:srgbClr val="080808"/>
                </a:solidFill>
                <a:latin typeface="Calibri"/>
                <a:ea typeface="Calibri"/>
                <a:cs typeface="Calibri"/>
              </a:rPr>
              <a:t> triples. For example, </a:t>
            </a:r>
            <a:r>
              <a:rPr sz="2050" b="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"2"</a:t>
            </a:r>
            <a:r>
              <a:rPr sz="2400" b="0">
                <a:solidFill>
                  <a:srgbClr val="080808"/>
                </a:solidFill>
                <a:latin typeface="Calibri"/>
                <a:ea typeface="Calibri"/>
                <a:cs typeface="Calibri"/>
              </a:rPr>
              <a:t> and 6 display </a:t>
            </a:r>
            <a:r>
              <a:rPr sz="2050" b="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"Result: 18"</a:t>
            </a:r>
            <a:r>
              <a:rPr sz="2400" b="0">
                <a:solidFill>
                  <a:srgbClr val="080808"/>
                </a:solidFill>
                <a:latin typeface="Calibri"/>
                <a:ea typeface="Calibri"/>
                <a:cs typeface="Calibri"/>
              </a:rPr>
              <a:t>.</a:t>
            </a:r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90156456-F916-2DFA-3233-CF36D6126AC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8C630A04-5A25-9E0C-9436-126091DB86B3}" type="slidenum">
              <a:t>6</a:t>
            </a:fld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1C8A6263-CC79-FF3D-FD4C-FA1A647B7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9320" y="46401"/>
            <a:ext cx="1828800" cy="3077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1400"/>
              <a:t>Starter Code:</a:t>
            </a:r>
          </a:p>
        </p:txBody>
      </p:sp>
      <p:sp>
        <p:nvSpPr>
          <p:cNvPr id="9" name="Rectangle 1">
            <a:extLst xmlns:a="http://schemas.openxmlformats.org/drawingml/2006/main">
              <a:ext uri="{FF2B5EF4-FFF2-40B4-BE49-F238E27FC236}">
                <a16:creationId xmlns:a16="http://schemas.microsoft.com/office/drawing/2014/main" id="{C222A94C-9EF0-110A-E446-C6FE28AB0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9320" y="354178"/>
            <a:ext cx="5897880" cy="1600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>
            <a:normAutofit fontScale="10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1100">
                <a:solidFill>
                  <a:srgbClr val="C45E00"/>
                </a:solidFill>
                <a:latin typeface="JetBrains Mono"/>
                <a:ea typeface="JetBrains Mono"/>
                <a:cs typeface="JetBrains Mono"/>
              </a:rPr>
              <a:t>def</a:t>
            </a:r>
            <a:r>
              <a:rPr sz="11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double(number):</a:t>
            </a:r>
            <a:br>
              <a:rPr sz="11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</a:br>
            <a:r>
              <a:rPr sz="11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   </a:t>
            </a:r>
            <a:r>
              <a:rPr sz="1100">
                <a:solidFill>
                  <a:srgbClr val="C45E00"/>
                </a:solidFill>
                <a:latin typeface="JetBrains Mono"/>
                <a:ea typeface="JetBrains Mono"/>
                <a:cs typeface="JetBrains Mono"/>
              </a:rPr>
              <a:t>return</a:t>
            </a:r>
            <a:r>
              <a:rPr sz="11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number * 2</a:t>
            </a:r>
            <a:br>
              <a:rPr sz="11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</a:br>
            <a:r>
              <a:rPr sz="1100">
                <a:solidFill>
                  <a:srgbClr val="C45E00"/>
                </a:solidFill>
                <a:latin typeface="JetBrains Mono"/>
                <a:ea typeface="JetBrains Mono"/>
                <a:cs typeface="JetBrains Mono"/>
              </a:rPr>
              <a:t>def</a:t>
            </a:r>
            <a:r>
              <a:rPr sz="11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square(number):</a:t>
            </a:r>
            <a:br>
              <a:rPr sz="11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</a:br>
            <a:r>
              <a:rPr sz="11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   </a:t>
            </a:r>
            <a:r>
              <a:rPr sz="1100">
                <a:solidFill>
                  <a:srgbClr val="C45E00"/>
                </a:solidFill>
                <a:latin typeface="JetBrains Mono"/>
                <a:ea typeface="JetBrains Mono"/>
                <a:cs typeface="JetBrains Mono"/>
              </a:rPr>
              <a:t>return</a:t>
            </a:r>
            <a:r>
              <a:rPr sz="11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number * number</a:t>
            </a:r>
            <a:br>
              <a:rPr sz="11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</a:br>
            <a:r>
              <a:rPr sz="11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print</a:t>
            </a:r>
            <a:r>
              <a:rPr sz="11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11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"1: double\n2: square"</a:t>
            </a:r>
            <a:r>
              <a:rPr sz="11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)</a:t>
            </a:r>
            <a:br>
              <a:rPr sz="11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</a:br>
            <a:r>
              <a:rPr sz="11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choice = </a:t>
            </a:r>
            <a:r>
              <a:rPr sz="11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input</a:t>
            </a:r>
            <a:r>
              <a:rPr sz="11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11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"Choice: "</a:t>
            </a:r>
            <a:r>
              <a:rPr sz="11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)</a:t>
            </a:r>
            <a:br>
              <a:rPr sz="11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</a:br>
            <a:r>
              <a:rPr sz="11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value = </a:t>
            </a:r>
            <a:r>
              <a:rPr sz="11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int</a:t>
            </a:r>
            <a:r>
              <a:rPr sz="11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11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input</a:t>
            </a:r>
            <a:r>
              <a:rPr sz="11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11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"Number: "</a:t>
            </a:r>
            <a:r>
              <a:rPr sz="11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))</a:t>
            </a:r>
            <a:br>
              <a:rPr sz="11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</a:br>
            <a:r>
              <a:rPr sz="1100">
                <a:solidFill>
                  <a:srgbClr val="C45E00"/>
                </a:solidFill>
                <a:latin typeface="JetBrains Mono"/>
                <a:ea typeface="JetBrains Mono"/>
                <a:cs typeface="JetBrains Mono"/>
              </a:rPr>
              <a:t>if</a:t>
            </a:r>
            <a:r>
              <a:rPr sz="11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choice </a:t>
            </a:r>
            <a:r>
              <a:rPr sz="1100">
                <a:solidFill>
                  <a:srgbClr val="080808"/>
                </a:solidFill>
                <a:latin typeface="Consolas"/>
                <a:ea typeface="Consolas"/>
                <a:cs typeface="Consolas"/>
              </a:rPr>
              <a:t>==</a:t>
            </a:r>
            <a:r>
              <a:rPr sz="11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</a:t>
            </a:r>
            <a:r>
              <a:rPr sz="11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"1"</a:t>
            </a:r>
            <a:r>
              <a:rPr sz="11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:</a:t>
            </a:r>
            <a:br>
              <a:rPr sz="11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</a:br>
            <a:r>
              <a:rPr sz="11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   </a:t>
            </a:r>
            <a:r>
              <a:rPr sz="11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print</a:t>
            </a:r>
            <a:r>
              <a:rPr sz="11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11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"Result:"</a:t>
            </a:r>
            <a:r>
              <a:rPr sz="11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, double(value))</a:t>
            </a:r>
            <a:br>
              <a:rPr sz="11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</a:br>
            <a:r>
              <a:rPr sz="1100">
                <a:solidFill>
                  <a:srgbClr val="C45E00"/>
                </a:solidFill>
                <a:latin typeface="JetBrains Mono"/>
                <a:ea typeface="JetBrains Mono"/>
                <a:cs typeface="JetBrains Mono"/>
              </a:rPr>
              <a:t>else</a:t>
            </a:r>
            <a:r>
              <a:rPr sz="11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:</a:t>
            </a:r>
            <a:br>
              <a:rPr sz="11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</a:br>
            <a:r>
              <a:rPr sz="11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   </a:t>
            </a:r>
            <a:r>
              <a:rPr sz="11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print</a:t>
            </a:r>
            <a:r>
              <a:rPr sz="11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11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"Result:"</a:t>
            </a:r>
            <a:r>
              <a:rPr sz="11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, square(value))</a:t>
            </a:r>
          </a:p>
        </p:txBody>
      </p:sp>
    </p:spTree>
    <p:extLst>
      <p:ext uri="{BB962C8B-B14F-4D97-AF65-F5344CB8AC3E}">
        <p14:creationId xmlns:p14="http://schemas.microsoft.com/office/powerpoint/2010/main" val="2523084536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E6F32E09-610F-3EC3-B786-50BDF0372E6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37569" y="2124718"/>
            <a:ext cx="3832073" cy="1325563"/>
          </a:xfrm>
        </p:spPr>
        <p:txBody>
          <a:bodyPr xmlns:a="http://schemas.openxmlformats.org/drawingml/2006/main" wrap="none" anchor="ctr">
            <a:normAutofit fontScale="100000"/>
          </a:bodyPr>
          <a:lstStyle xmlns:a="http://schemas.openxmlformats.org/drawingml/2006/main"/>
          <a:p xmlns:a="http://schemas.openxmlformats.org/drawingml/2006/main">
            <a:r>
              <a:t>Challenge 2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59C6027A-1FB5-B72A-C3EC-60CC3C954B38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1294599" y="3405120"/>
            <a:ext cx="7425519" cy="2115403"/>
          </a:xfrm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400" b="0">
                <a:solidFill>
                  <a:srgbClr val="080808"/>
                </a:solidFill>
                <a:latin typeface="Calibri"/>
                <a:ea typeface="Calibri"/>
                <a:cs typeface="Calibri"/>
              </a:rPr>
              <a:t>Extend the example with </a:t>
            </a:r>
            <a:r>
              <a:rPr sz="2050" b="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half</a:t>
            </a:r>
            <a:r>
              <a:rPr sz="2400" b="0">
                <a:solidFill>
                  <a:srgbClr val="080808"/>
                </a:solidFill>
                <a:latin typeface="Calibri"/>
                <a:ea typeface="Calibri"/>
                <a:cs typeface="Calibri"/>
              </a:rPr>
              <a:t>(number), which should </a:t>
            </a:r>
            <a:r>
              <a:rPr sz="2050" b="0">
                <a:solidFill>
                  <a:srgbClr val="C45E00"/>
                </a:solidFill>
                <a:latin typeface="JetBrains Mono"/>
                <a:ea typeface="JetBrains Mono"/>
                <a:cs typeface="JetBrains Mono"/>
              </a:rPr>
              <a:t>return</a:t>
            </a:r>
            <a:r>
              <a:rPr sz="2400" b="0">
                <a:solidFill>
                  <a:srgbClr val="080808"/>
                </a:solidFill>
                <a:latin typeface="Calibri"/>
                <a:ea typeface="Calibri"/>
                <a:cs typeface="Calibri"/>
              </a:rPr>
              <a:t> number / 2, and menu option </a:t>
            </a:r>
            <a:r>
              <a:rPr sz="2050" b="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"3: half"</a:t>
            </a:r>
            <a:r>
              <a:rPr sz="2400" b="0">
                <a:solidFill>
                  <a:srgbClr val="080808"/>
                </a:solidFill>
                <a:latin typeface="Calibri"/>
                <a:ea typeface="Calibri"/>
                <a:cs typeface="Calibri"/>
              </a:rPr>
              <a:t>. Use </a:t>
            </a:r>
            <a:r>
              <a:rPr sz="2050" b="0">
                <a:solidFill>
                  <a:srgbClr val="C45E00"/>
                </a:solidFill>
                <a:latin typeface="JetBrains Mono"/>
                <a:ea typeface="JetBrains Mono"/>
                <a:cs typeface="JetBrains Mono"/>
              </a:rPr>
              <a:t>if</a:t>
            </a:r>
            <a:r>
              <a:rPr sz="2400" b="0">
                <a:solidFill>
                  <a:srgbClr val="080808"/>
                </a:solidFill>
                <a:latin typeface="Calibri"/>
                <a:ea typeface="Calibri"/>
                <a:cs typeface="Calibri"/>
              </a:rPr>
              <a:t> and </a:t>
            </a:r>
            <a:r>
              <a:rPr sz="2050" b="0">
                <a:solidFill>
                  <a:srgbClr val="C45E00"/>
                </a:solidFill>
                <a:latin typeface="JetBrains Mono"/>
                <a:ea typeface="JetBrains Mono"/>
                <a:cs typeface="JetBrains Mono"/>
              </a:rPr>
              <a:t>elif</a:t>
            </a:r>
            <a:r>
              <a:rPr sz="2400" b="0">
                <a:solidFill>
                  <a:srgbClr val="080808"/>
                </a:solidFill>
                <a:latin typeface="Calibri"/>
                <a:ea typeface="Calibri"/>
                <a:cs typeface="Calibri"/>
              </a:rPr>
              <a:t> to call the matching function, and </a:t>
            </a:r>
            <a:r>
              <a:rPr sz="2050" b="0">
                <a:solidFill>
                  <a:srgbClr val="C45E00"/>
                </a:solidFill>
                <a:latin typeface="JetBrains Mono"/>
                <a:ea typeface="JetBrains Mono"/>
                <a:cs typeface="JetBrains Mono"/>
              </a:rPr>
              <a:t>else</a:t>
            </a:r>
            <a:r>
              <a:rPr sz="2400" b="0">
                <a:solidFill>
                  <a:srgbClr val="080808"/>
                </a:solidFill>
                <a:latin typeface="Calibri"/>
                <a:ea typeface="Calibri"/>
                <a:cs typeface="Calibri"/>
              </a:rPr>
              <a:t> to display </a:t>
            </a:r>
            <a:r>
              <a:rPr sz="2050" b="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"Invalid choice."</a:t>
            </a:r>
            <a:r>
              <a:rPr sz="2400" b="0">
                <a:solidFill>
                  <a:srgbClr val="080808"/>
                </a:solidFill>
                <a:latin typeface="Calibri"/>
                <a:ea typeface="Calibri"/>
                <a:cs typeface="Calibri"/>
              </a:rPr>
              <a:t> For example, </a:t>
            </a:r>
            <a:r>
              <a:rPr sz="2050" b="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"3"</a:t>
            </a:r>
            <a:r>
              <a:rPr sz="2400" b="0">
                <a:solidFill>
                  <a:srgbClr val="080808"/>
                </a:solidFill>
                <a:latin typeface="Calibri"/>
                <a:ea typeface="Calibri"/>
                <a:cs typeface="Calibri"/>
              </a:rPr>
              <a:t> and 5 display </a:t>
            </a:r>
            <a:r>
              <a:rPr sz="2050" b="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"Result: 2.5"</a:t>
            </a:r>
            <a:r>
              <a:rPr sz="2400" b="0">
                <a:solidFill>
                  <a:srgbClr val="080808"/>
                </a:solidFill>
                <a:latin typeface="Calibri"/>
                <a:ea typeface="Calibri"/>
                <a:cs typeface="Calibri"/>
              </a:rPr>
              <a:t>.</a:t>
            </a:r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70D6E3A5-7CB1-FEBE-DD06-6569C8628B9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D3D7D1C8-AE23-AA48-DF65-C742588DBE47}" type="slidenum">
              <a:t>7</a:t>
            </a:fld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A196B955-0246-808C-A71A-D2BB9AF54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9320" y="46401"/>
            <a:ext cx="1828800" cy="3077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1400"/>
              <a:t>Starter Code:</a:t>
            </a:r>
          </a:p>
        </p:txBody>
      </p:sp>
      <p:sp>
        <p:nvSpPr>
          <p:cNvPr id="9" name="Rectangle 1">
            <a:extLst xmlns:a="http://schemas.openxmlformats.org/drawingml/2006/main">
              <a:ext uri="{FF2B5EF4-FFF2-40B4-BE49-F238E27FC236}">
                <a16:creationId xmlns:a16="http://schemas.microsoft.com/office/drawing/2014/main" id="{5EBE2FD6-88DA-C59D-A3CB-7D8ADC682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9320" y="354178"/>
            <a:ext cx="5897880" cy="1600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>
            <a:normAutofit fontScale="10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1100">
                <a:solidFill>
                  <a:srgbClr val="C45E00"/>
                </a:solidFill>
                <a:latin typeface="JetBrains Mono"/>
                <a:ea typeface="JetBrains Mono"/>
                <a:cs typeface="JetBrains Mono"/>
              </a:rPr>
              <a:t>def</a:t>
            </a:r>
            <a:r>
              <a:rPr sz="11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double(number):</a:t>
            </a:r>
            <a:br>
              <a:rPr sz="11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</a:br>
            <a:r>
              <a:rPr sz="11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   </a:t>
            </a:r>
            <a:r>
              <a:rPr sz="1100">
                <a:solidFill>
                  <a:srgbClr val="C45E00"/>
                </a:solidFill>
                <a:latin typeface="JetBrains Mono"/>
                <a:ea typeface="JetBrains Mono"/>
                <a:cs typeface="JetBrains Mono"/>
              </a:rPr>
              <a:t>return</a:t>
            </a:r>
            <a:r>
              <a:rPr sz="11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number * 2</a:t>
            </a:r>
            <a:br>
              <a:rPr sz="11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</a:br>
            <a:r>
              <a:rPr sz="1100">
                <a:solidFill>
                  <a:srgbClr val="C45E00"/>
                </a:solidFill>
                <a:latin typeface="JetBrains Mono"/>
                <a:ea typeface="JetBrains Mono"/>
                <a:cs typeface="JetBrains Mono"/>
              </a:rPr>
              <a:t>def</a:t>
            </a:r>
            <a:r>
              <a:rPr sz="11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square(number):</a:t>
            </a:r>
            <a:br>
              <a:rPr sz="11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</a:br>
            <a:r>
              <a:rPr sz="11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   </a:t>
            </a:r>
            <a:r>
              <a:rPr sz="1100">
                <a:solidFill>
                  <a:srgbClr val="C45E00"/>
                </a:solidFill>
                <a:latin typeface="JetBrains Mono"/>
                <a:ea typeface="JetBrains Mono"/>
                <a:cs typeface="JetBrains Mono"/>
              </a:rPr>
              <a:t>return</a:t>
            </a:r>
            <a:r>
              <a:rPr sz="11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number * number</a:t>
            </a:r>
            <a:br>
              <a:rPr sz="11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</a:br>
            <a:r>
              <a:rPr sz="11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print</a:t>
            </a:r>
            <a:r>
              <a:rPr sz="11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11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"1: double\n2: square"</a:t>
            </a:r>
            <a:r>
              <a:rPr sz="11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)</a:t>
            </a:r>
            <a:br>
              <a:rPr sz="11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</a:br>
            <a:r>
              <a:rPr sz="11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choice = </a:t>
            </a:r>
            <a:r>
              <a:rPr sz="11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input</a:t>
            </a:r>
            <a:r>
              <a:rPr sz="11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11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"Choice: "</a:t>
            </a:r>
            <a:r>
              <a:rPr sz="11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)</a:t>
            </a:r>
            <a:br>
              <a:rPr sz="11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</a:br>
            <a:r>
              <a:rPr sz="11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value = </a:t>
            </a:r>
            <a:r>
              <a:rPr sz="11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int</a:t>
            </a:r>
            <a:r>
              <a:rPr sz="11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11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input</a:t>
            </a:r>
            <a:r>
              <a:rPr sz="11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11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"Number: "</a:t>
            </a:r>
            <a:r>
              <a:rPr sz="11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))</a:t>
            </a:r>
            <a:br>
              <a:rPr sz="11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</a:br>
            <a:r>
              <a:rPr sz="1100">
                <a:solidFill>
                  <a:srgbClr val="C45E00"/>
                </a:solidFill>
                <a:latin typeface="JetBrains Mono"/>
                <a:ea typeface="JetBrains Mono"/>
                <a:cs typeface="JetBrains Mono"/>
              </a:rPr>
              <a:t>if</a:t>
            </a:r>
            <a:r>
              <a:rPr sz="11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choice </a:t>
            </a:r>
            <a:r>
              <a:rPr sz="1100">
                <a:solidFill>
                  <a:srgbClr val="080808"/>
                </a:solidFill>
                <a:latin typeface="Consolas"/>
                <a:ea typeface="Consolas"/>
                <a:cs typeface="Consolas"/>
              </a:rPr>
              <a:t>==</a:t>
            </a:r>
            <a:r>
              <a:rPr sz="11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</a:t>
            </a:r>
            <a:r>
              <a:rPr sz="11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"1"</a:t>
            </a:r>
            <a:r>
              <a:rPr sz="11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:</a:t>
            </a:r>
            <a:br>
              <a:rPr sz="11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</a:br>
            <a:r>
              <a:rPr sz="11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   </a:t>
            </a:r>
            <a:r>
              <a:rPr sz="11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print</a:t>
            </a:r>
            <a:r>
              <a:rPr sz="11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11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"Result:"</a:t>
            </a:r>
            <a:r>
              <a:rPr sz="11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, double(value))</a:t>
            </a:r>
            <a:br>
              <a:rPr sz="11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</a:br>
            <a:r>
              <a:rPr sz="1100">
                <a:solidFill>
                  <a:srgbClr val="C45E00"/>
                </a:solidFill>
                <a:latin typeface="JetBrains Mono"/>
                <a:ea typeface="JetBrains Mono"/>
                <a:cs typeface="JetBrains Mono"/>
              </a:rPr>
              <a:t>else</a:t>
            </a:r>
            <a:r>
              <a:rPr sz="11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:</a:t>
            </a:r>
            <a:br>
              <a:rPr sz="11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</a:br>
            <a:r>
              <a:rPr sz="11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   </a:t>
            </a:r>
            <a:r>
              <a:rPr sz="11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print</a:t>
            </a:r>
            <a:r>
              <a:rPr sz="11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11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"Result:"</a:t>
            </a:r>
            <a:r>
              <a:rPr sz="11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, square(value))</a:t>
            </a:r>
          </a:p>
        </p:txBody>
      </p:sp>
    </p:spTree>
    <p:extLst>
      <p:ext uri="{BB962C8B-B14F-4D97-AF65-F5344CB8AC3E}">
        <p14:creationId xmlns:p14="http://schemas.microsoft.com/office/powerpoint/2010/main" val="1307315574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A4A55FF9-C519-C841-BC1B-5A0F8233806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37569" y="2124718"/>
            <a:ext cx="3832073" cy="1325563"/>
          </a:xfrm>
        </p:spPr>
        <p:txBody>
          <a:bodyPr xmlns:a="http://schemas.openxmlformats.org/drawingml/2006/main" wrap="none" anchor="ctr">
            <a:normAutofit fontScale="100000"/>
          </a:bodyPr>
          <a:lstStyle xmlns:a="http://schemas.openxmlformats.org/drawingml/2006/main"/>
          <a:p xmlns:a="http://schemas.openxmlformats.org/drawingml/2006/main">
            <a:r>
              <a:t>Challenge 3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50A78088-1A9E-9140-1446-FCCFF01522D1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1294599" y="3405120"/>
            <a:ext cx="7425519" cy="2115403"/>
          </a:xfrm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400" b="0">
                <a:solidFill>
                  <a:srgbClr val="080808"/>
                </a:solidFill>
                <a:latin typeface="Calibri"/>
                <a:ea typeface="Calibri"/>
                <a:cs typeface="Calibri"/>
              </a:rPr>
              <a:t>Create a room calculator with three functions: </a:t>
            </a:r>
            <a:r>
              <a:rPr sz="2050" b="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show_menu()</a:t>
            </a:r>
            <a:r>
              <a:rPr sz="2400" b="0">
                <a:solidFill>
                  <a:srgbClr val="080808"/>
                </a:solidFill>
                <a:latin typeface="Calibri"/>
                <a:ea typeface="Calibri"/>
                <a:cs typeface="Calibri"/>
              </a:rPr>
              <a:t> displays </a:t>
            </a:r>
            <a:r>
              <a:rPr sz="2050" b="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"1: area, 2: perimeter"</a:t>
            </a:r>
            <a:r>
              <a:rPr sz="2400" b="0">
                <a:solidFill>
                  <a:srgbClr val="080808"/>
                </a:solidFill>
                <a:latin typeface="Calibri"/>
                <a:ea typeface="Calibri"/>
                <a:cs typeface="Calibri"/>
              </a:rPr>
              <a:t>, and </a:t>
            </a:r>
            <a:r>
              <a:rPr sz="2050" b="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area</a:t>
            </a:r>
            <a:r>
              <a:rPr sz="2400" b="0">
                <a:solidFill>
                  <a:srgbClr val="080808"/>
                </a:solidFill>
                <a:latin typeface="Calibri"/>
                <a:ea typeface="Calibri"/>
                <a:cs typeface="Calibri"/>
              </a:rPr>
              <a:t>(length, width) and </a:t>
            </a:r>
            <a:r>
              <a:rPr sz="2050" b="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perimeter</a:t>
            </a:r>
            <a:r>
              <a:rPr sz="2400" b="0">
                <a:solidFill>
                  <a:srgbClr val="080808"/>
                </a:solidFill>
                <a:latin typeface="Calibri"/>
                <a:ea typeface="Calibri"/>
                <a:cs typeface="Calibri"/>
              </a:rPr>
              <a:t>(length, width) each </a:t>
            </a:r>
            <a:r>
              <a:rPr sz="2050" b="0">
                <a:solidFill>
                  <a:srgbClr val="C45E00"/>
                </a:solidFill>
                <a:latin typeface="JetBrains Mono"/>
                <a:ea typeface="JetBrains Mono"/>
                <a:cs typeface="JetBrains Mono"/>
              </a:rPr>
              <a:t>return</a:t>
            </a:r>
            <a:r>
              <a:rPr sz="2400" b="0">
                <a:solidFill>
                  <a:srgbClr val="080808"/>
                </a:solidFill>
                <a:latin typeface="Calibri"/>
                <a:ea typeface="Calibri"/>
                <a:cs typeface="Calibri"/>
              </a:rPr>
              <a:t> a result. Call </a:t>
            </a:r>
            <a:r>
              <a:rPr sz="2050" b="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show_menu()</a:t>
            </a:r>
            <a:r>
              <a:rPr sz="2400" b="0">
                <a:solidFill>
                  <a:srgbClr val="080808"/>
                </a:solidFill>
                <a:latin typeface="Calibri"/>
                <a:ea typeface="Calibri"/>
                <a:cs typeface="Calibri"/>
              </a:rPr>
              <a:t>, ask for a choice, a length and a width, then call the matching function. Otherwise display </a:t>
            </a:r>
            <a:r>
              <a:rPr sz="2050" b="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"Invalid choice."</a:t>
            </a:r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F6969061-E293-66B3-2505-D44FC70B8EDB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A58DA2A-B818-18A9-29C1-B697728D5BCE}" type="slidenum">
              <a:t>8</a:t>
            </a:fld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98315360-7E37-4E61-CFB3-15B4BF185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9320" y="46401"/>
            <a:ext cx="1828800" cy="3077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1400"/>
              <a:t>Starter Code:</a:t>
            </a:r>
          </a:p>
        </p:txBody>
      </p:sp>
      <p:sp>
        <p:nvSpPr>
          <p:cNvPr id="6" name="Rectangle 1">
            <a:extLst xmlns:a="http://schemas.openxmlformats.org/drawingml/2006/main">
              <a:ext uri="{FF2B5EF4-FFF2-40B4-BE49-F238E27FC236}">
                <a16:creationId xmlns:a16="http://schemas.microsoft.com/office/drawing/2014/main" id="{0CFC9096-19D0-8DB5-A52D-780B3819F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9320" y="354178"/>
            <a:ext cx="5897880" cy="1600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>
            <a:normAutofit fontScale="10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1100">
                <a:solidFill>
                  <a:srgbClr val="C45E00"/>
                </a:solidFill>
                <a:latin typeface="JetBrains Mono"/>
                <a:ea typeface="JetBrains Mono"/>
                <a:cs typeface="JetBrains Mono"/>
              </a:rPr>
              <a:t>def</a:t>
            </a:r>
            <a:r>
              <a:rPr sz="11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double(number):</a:t>
            </a:r>
            <a:br>
              <a:rPr sz="11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</a:br>
            <a:r>
              <a:rPr sz="11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   </a:t>
            </a:r>
            <a:r>
              <a:rPr sz="1100">
                <a:solidFill>
                  <a:srgbClr val="C45E00"/>
                </a:solidFill>
                <a:latin typeface="JetBrains Mono"/>
                <a:ea typeface="JetBrains Mono"/>
                <a:cs typeface="JetBrains Mono"/>
              </a:rPr>
              <a:t>return</a:t>
            </a:r>
            <a:r>
              <a:rPr sz="11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number * 2</a:t>
            </a:r>
            <a:br>
              <a:rPr sz="11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</a:br>
            <a:r>
              <a:rPr sz="1100">
                <a:solidFill>
                  <a:srgbClr val="C45E00"/>
                </a:solidFill>
                <a:latin typeface="JetBrains Mono"/>
                <a:ea typeface="JetBrains Mono"/>
                <a:cs typeface="JetBrains Mono"/>
              </a:rPr>
              <a:t>def</a:t>
            </a:r>
            <a:r>
              <a:rPr sz="11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square(number):</a:t>
            </a:r>
            <a:br>
              <a:rPr sz="11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</a:br>
            <a:r>
              <a:rPr sz="11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   </a:t>
            </a:r>
            <a:r>
              <a:rPr sz="1100">
                <a:solidFill>
                  <a:srgbClr val="C45E00"/>
                </a:solidFill>
                <a:latin typeface="JetBrains Mono"/>
                <a:ea typeface="JetBrains Mono"/>
                <a:cs typeface="JetBrains Mono"/>
              </a:rPr>
              <a:t>return</a:t>
            </a:r>
            <a:r>
              <a:rPr sz="11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number * number</a:t>
            </a:r>
            <a:br>
              <a:rPr sz="11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</a:br>
            <a:r>
              <a:rPr sz="11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print</a:t>
            </a:r>
            <a:r>
              <a:rPr sz="11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11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"1: double\n2: square"</a:t>
            </a:r>
            <a:r>
              <a:rPr sz="11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)</a:t>
            </a:r>
            <a:br>
              <a:rPr sz="11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</a:br>
            <a:r>
              <a:rPr sz="11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choice = </a:t>
            </a:r>
            <a:r>
              <a:rPr sz="11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input</a:t>
            </a:r>
            <a:r>
              <a:rPr sz="11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11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"Choice: "</a:t>
            </a:r>
            <a:r>
              <a:rPr sz="11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)</a:t>
            </a:r>
            <a:br>
              <a:rPr sz="11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</a:br>
            <a:r>
              <a:rPr sz="11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value = </a:t>
            </a:r>
            <a:r>
              <a:rPr sz="11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int</a:t>
            </a:r>
            <a:r>
              <a:rPr sz="11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11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input</a:t>
            </a:r>
            <a:r>
              <a:rPr sz="11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11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"Number: "</a:t>
            </a:r>
            <a:r>
              <a:rPr sz="11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))</a:t>
            </a:r>
            <a:br>
              <a:rPr sz="11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</a:br>
            <a:r>
              <a:rPr sz="1100">
                <a:solidFill>
                  <a:srgbClr val="C45E00"/>
                </a:solidFill>
                <a:latin typeface="JetBrains Mono"/>
                <a:ea typeface="JetBrains Mono"/>
                <a:cs typeface="JetBrains Mono"/>
              </a:rPr>
              <a:t>if</a:t>
            </a:r>
            <a:r>
              <a:rPr sz="11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choice </a:t>
            </a:r>
            <a:r>
              <a:rPr sz="1100">
                <a:solidFill>
                  <a:srgbClr val="080808"/>
                </a:solidFill>
                <a:latin typeface="Consolas"/>
                <a:ea typeface="Consolas"/>
                <a:cs typeface="Consolas"/>
              </a:rPr>
              <a:t>==</a:t>
            </a:r>
            <a:r>
              <a:rPr sz="11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</a:t>
            </a:r>
            <a:r>
              <a:rPr sz="11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"1"</a:t>
            </a:r>
            <a:r>
              <a:rPr sz="11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:</a:t>
            </a:r>
            <a:br>
              <a:rPr sz="11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</a:br>
            <a:r>
              <a:rPr sz="11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   </a:t>
            </a:r>
            <a:r>
              <a:rPr sz="11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print</a:t>
            </a:r>
            <a:r>
              <a:rPr sz="11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11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"Result:"</a:t>
            </a:r>
            <a:r>
              <a:rPr sz="11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, double(value))</a:t>
            </a:r>
            <a:br>
              <a:rPr sz="11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</a:br>
            <a:r>
              <a:rPr sz="1100">
                <a:solidFill>
                  <a:srgbClr val="C45E00"/>
                </a:solidFill>
                <a:latin typeface="JetBrains Mono"/>
                <a:ea typeface="JetBrains Mono"/>
                <a:cs typeface="JetBrains Mono"/>
              </a:rPr>
              <a:t>else</a:t>
            </a:r>
            <a:r>
              <a:rPr sz="11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:</a:t>
            </a:r>
            <a:br>
              <a:rPr sz="11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</a:br>
            <a:r>
              <a:rPr sz="11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   </a:t>
            </a:r>
            <a:r>
              <a:rPr sz="11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print</a:t>
            </a:r>
            <a:r>
              <a:rPr sz="11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11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"Result:"</a:t>
            </a:r>
            <a:r>
              <a:rPr sz="11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, square(value))</a:t>
            </a:r>
          </a:p>
        </p:txBody>
      </p:sp>
    </p:spTree>
    <p:extLst>
      <p:ext uri="{BB962C8B-B14F-4D97-AF65-F5344CB8AC3E}">
        <p14:creationId xmlns:p14="http://schemas.microsoft.com/office/powerpoint/2010/main" val="3373945130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D4DFBD71-FEF6-6EBF-BF05-0ED86228F78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37569" y="2124718"/>
            <a:ext cx="3832073" cy="1325563"/>
          </a:xfrm>
        </p:spPr>
        <p:txBody>
          <a:bodyPr xmlns:a="http://schemas.openxmlformats.org/drawingml/2006/main" wrap="none" anchor="ctr">
            <a:normAutofit fontScale="100000"/>
          </a:bodyPr>
          <a:lstStyle xmlns:a="http://schemas.openxmlformats.org/drawingml/2006/main"/>
          <a:p xmlns:a="http://schemas.openxmlformats.org/drawingml/2006/main">
            <a:r>
              <a:t>Fix the code!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5DC8E91D-B482-1BE2-7466-89F6C23BCF11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1294599" y="3405120"/>
            <a:ext cx="7425519" cy="2115403"/>
          </a:xfrm>
        </p:spPr>
        <p:txBody>
          <a:bodyPr xmlns:a="http://schemas.openxmlformats.org/drawingml/2006/main">
            <a:normAutofit fontScale="54933" lnSpcReduction="20000"/>
          </a:bodyPr>
          <a:lstStyle xmlns:a="http://schemas.openxmlformats.org/drawingml/2006/main"/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800" b="1">
                <a:solidFill>
                  <a:srgbClr val="FF0000"/>
                </a:solidFill>
              </a:rPr>
              <a:t>This code has errors!</a:t>
            </a:r>
            <a:r>
              <a:rPr sz="2800" b="1">
                <a:solidFill>
                  <a:srgbClr val="080808"/>
                </a:solidFill>
              </a:rPr>
              <a:t> Look closely at the code to find the problems: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1800">
                <a:latin typeface="JetBrains Mono"/>
                <a:ea typeface="JetBrains Mono"/>
                <a:cs typeface="JetBrains Mono"/>
              </a:rPr>
              <a:t> 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1800">
                <a:solidFill>
                  <a:srgbClr val="C45E00"/>
                </a:solidFill>
                <a:latin typeface="JetBrains Mono"/>
                <a:ea typeface="JetBrains Mono"/>
                <a:cs typeface="JetBrains Mono"/>
              </a:rPr>
              <a:t>def</a:t>
            </a:r>
            <a:r>
              <a:rPr sz="18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double(number):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18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   number * 2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1800">
                <a:solidFill>
                  <a:srgbClr val="C45E00"/>
                </a:solidFill>
                <a:latin typeface="JetBrains Mono"/>
                <a:ea typeface="JetBrains Mono"/>
                <a:cs typeface="JetBrains Mono"/>
              </a:rPr>
              <a:t>def</a:t>
            </a:r>
            <a:r>
              <a:rPr sz="18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square(number):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18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   </a:t>
            </a:r>
            <a:r>
              <a:rPr sz="1800">
                <a:solidFill>
                  <a:srgbClr val="C45E00"/>
                </a:solidFill>
                <a:latin typeface="JetBrains Mono"/>
                <a:ea typeface="JetBrains Mono"/>
                <a:cs typeface="JetBrains Mono"/>
              </a:rPr>
              <a:t>return</a:t>
            </a:r>
            <a:r>
              <a:rPr sz="18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number * number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18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value = 6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18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print</a:t>
            </a:r>
            <a:r>
              <a:rPr sz="18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(double)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18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print</a:t>
            </a:r>
            <a:r>
              <a:rPr sz="18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(squared(value))</a:t>
            </a:r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C4F0ADF4-CBA1-F217-15B9-2DF889C07614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88657AE-30A1-5A7A-6A7F-315D84436430}" type="slidenum">
              <a:t>9</a:t>
            </a:fld>
          </a:p>
        </p:txBody>
      </p:sp>
    </p:spTree>
    <p:extLst>
      <p:ext uri="{BB962C8B-B14F-4D97-AF65-F5344CB8AC3E}">
        <p14:creationId xmlns:p14="http://schemas.microsoft.com/office/powerpoint/2010/main" val="336215718"/>
      </p:ext>
    </p:extLst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2026-09-28T09:11:35.1710000Z</dcterms:created>
  <dcterms:modified xsi:type="dcterms:W3CDTF">2026-09-28T09:11:35.1710000Z</dcterms:modified>
</coreProperties>
</file>