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dat" ContentType="application/x-fontdata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5ed1f7946284cd2" /><Relationship Type="http://schemas.openxmlformats.org/officeDocument/2006/relationships/extended-properties" Target="/docProps/app.xml" Id="R0b5ce2c07edf49dd" /><Relationship Type="http://schemas.openxmlformats.org/officeDocument/2006/relationships/officeDocument" Target="/ppt/presentation.xml" Id="R473fdb87a725497b" /></Relationships>
</file>

<file path=ppt/presentation.xml><?xml version="1.0" encoding="utf-8"?>
<p:presentation xmlns:p="http://schemas.openxmlformats.org/presentationml/2006/main" embedTrueTypeFonts="1" saveSubsetFonts="0">
  <p:sldMasterIdLst>
    <p:sldMasterId xmlns:r="http://schemas.openxmlformats.org/officeDocument/2006/relationships" id="2147483648" r:id="Rd410ac09017049b4"/>
  </p:sldMasterIdLst>
  <p:notesMasterIdLst>
    <p:notesMasterId xmlns:r="http://schemas.openxmlformats.org/officeDocument/2006/relationships" r:id="Rfcee7ed52f3b4403"/>
  </p:notesMasterIdLst>
  <p:sldIdLst>
    <p:sldId xmlns:r="http://schemas.openxmlformats.org/officeDocument/2006/relationships" id="256" r:id="R1504f588b2d44137"/>
    <p:sldId xmlns:r="http://schemas.openxmlformats.org/officeDocument/2006/relationships" id="257" r:id="Rbbb87918af704ecc"/>
    <p:sldId xmlns:r="http://schemas.openxmlformats.org/officeDocument/2006/relationships" id="258" r:id="Rd1e64b62d0674375"/>
    <p:sldId xmlns:r="http://schemas.openxmlformats.org/officeDocument/2006/relationships" id="259" r:id="R3b9bbd3008ec46c7"/>
    <p:sldId xmlns:r="http://schemas.openxmlformats.org/officeDocument/2006/relationships" id="260" r:id="R4b5a1cfd59c94353"/>
    <p:sldId xmlns:r="http://schemas.openxmlformats.org/officeDocument/2006/relationships" id="261" r:id="Rd00e6e63fe364228"/>
    <p:sldId xmlns:r="http://schemas.openxmlformats.org/officeDocument/2006/relationships" id="262" r:id="R13d00109a9e34e78"/>
    <p:sldId xmlns:r="http://schemas.openxmlformats.org/officeDocument/2006/relationships" id="263" r:id="Ra745d5a16d1447ae"/>
    <p:sldId xmlns:r="http://schemas.openxmlformats.org/officeDocument/2006/relationships" id="264" r:id="Rafc190c3f87c45a2"/>
  </p:sldIdLst>
  <p:sldSz cx="12192000" cy="6858000"/>
  <p:notesSz cx="6858000" cy="9144000"/>
  <p:embeddedFontLst>
    <p:embeddedFont>
      <p:font typeface="JetBrains Mono"/>
      <p:regular xmlns:r="http://schemas.openxmlformats.org/officeDocument/2006/relationships" r:id="Rd3658f11d2eb4d81"/>
    </p:embeddedFont>
  </p:embeddedFontLst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e7b8e5dcc2d4d47" /><Relationship Type="http://schemas.openxmlformats.org/officeDocument/2006/relationships/slideMaster" Target="/ppt/slideMasters/slideMaster1.xml" Id="Rd410ac09017049b4" /><Relationship Type="http://schemas.openxmlformats.org/officeDocument/2006/relationships/notesMaster" Target="/ppt/notesMasters/notesMaster1.xml" Id="Rfcee7ed52f3b4403" /><Relationship Type="http://schemas.openxmlformats.org/officeDocument/2006/relationships/presProps" Target="/ppt/presProps.xml" Id="R3ae62cdf01fb49b7" /><Relationship Type="http://schemas.openxmlformats.org/officeDocument/2006/relationships/viewProps" Target="/ppt/viewProps.xml" Id="Rbf9945912bdb404c" /><Relationship Type="http://schemas.openxmlformats.org/officeDocument/2006/relationships/tableStyles" Target="/ppt/tableStyles.xml" Id="R4e331a4fb5e84878" /><Relationship Type="http://schemas.openxmlformats.org/officeDocument/2006/relationships/font" Target="/ppt/fonts/font.dat" Id="Rd3658f11d2eb4d81" /><Relationship Type="http://schemas.openxmlformats.org/officeDocument/2006/relationships/slide" Target="/ppt/slides/slide1.xml" Id="R1504f588b2d44137" /><Relationship Type="http://schemas.openxmlformats.org/officeDocument/2006/relationships/slide" Target="/ppt/slides/slide2.xml" Id="Rbbb87918af704ecc" /><Relationship Type="http://schemas.openxmlformats.org/officeDocument/2006/relationships/slide" Target="/ppt/slides/slide3.xml" Id="Rd1e64b62d0674375" /><Relationship Type="http://schemas.openxmlformats.org/officeDocument/2006/relationships/slide" Target="/ppt/slides/slide4.xml" Id="R3b9bbd3008ec46c7" /><Relationship Type="http://schemas.openxmlformats.org/officeDocument/2006/relationships/slide" Target="/ppt/slides/slide5.xml" Id="R4b5a1cfd59c94353" /><Relationship Type="http://schemas.openxmlformats.org/officeDocument/2006/relationships/slide" Target="/ppt/slides/slide6.xml" Id="Rd00e6e63fe364228" /><Relationship Type="http://schemas.openxmlformats.org/officeDocument/2006/relationships/slide" Target="/ppt/slides/slide7.xml" Id="R13d00109a9e34e78" /><Relationship Type="http://schemas.openxmlformats.org/officeDocument/2006/relationships/slide" Target="/ppt/slides/slide8.xml" Id="Ra745d5a16d1447ae" /><Relationship Type="http://schemas.openxmlformats.org/officeDocument/2006/relationships/slide" Target="/ppt/slides/slide9.xml" Id="Rafc190c3f87c45a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e35786729cc432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ccff4ca1632482f" /><Relationship Type="http://schemas.openxmlformats.org/officeDocument/2006/relationships/notesMaster" Target="/ppt/notesMasters/notesMaster1.xml" Id="Rbd2e60d6422d401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a51bdc56f574d76" /><Relationship Type="http://schemas.openxmlformats.org/officeDocument/2006/relationships/notesMaster" Target="/ppt/notesMasters/notesMaster1.xml" Id="Rba6dc1454e24484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61d9b3091ff4f15" /><Relationship Type="http://schemas.openxmlformats.org/officeDocument/2006/relationships/notesMaster" Target="/ppt/notesMasters/notesMaster1.xml" Id="Rf7c149b6efe34a6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4e1a34df0cc4926" /><Relationship Type="http://schemas.openxmlformats.org/officeDocument/2006/relationships/notesMaster" Target="/ppt/notesMasters/notesMaster1.xml" Id="R1060b777b096494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fcef7576b544166" /><Relationship Type="http://schemas.openxmlformats.org/officeDocument/2006/relationships/notesMaster" Target="/ppt/notesMasters/notesMaster1.xml" Id="R9f6c1952ef7647b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d1151e1bfe945a8" /><Relationship Type="http://schemas.openxmlformats.org/officeDocument/2006/relationships/notesMaster" Target="/ppt/notesMasters/notesMaster1.xml" Id="R023485dfe6174d5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df66e0a69ff4c40" /><Relationship Type="http://schemas.openxmlformats.org/officeDocument/2006/relationships/notesMaster" Target="/ppt/notesMasters/notesMaster1.xml" Id="R4703f430512249e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e115c4098d045e9" /><Relationship Type="http://schemas.openxmlformats.org/officeDocument/2006/relationships/notesMaster" Target="/ppt/notesMasters/notesMaster1.xml" Id="Rc02245ba7b47433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d77508a5bac46e4" /><Relationship Type="http://schemas.openxmlformats.org/officeDocument/2006/relationships/notesMaster" Target="/ppt/notesMasters/notesMaster1.xml" Id="R99c84d4449364cf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04903641e704bf0" /><Relationship Type="http://schemas.openxmlformats.org/officeDocument/2006/relationships/image" Target="/ppt/media/image.png" Id="R3a274a3161654198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ff45fa9454e4180" /><Relationship Type="http://schemas.openxmlformats.org/officeDocument/2006/relationships/image" Target="/ppt/media/image.png" Id="R48baa457727a4dfd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caa2a0bc61048f5" /><Relationship Type="http://schemas.openxmlformats.org/officeDocument/2006/relationships/image" Target="/ppt/media/image.png" Id="Re2dfde228bb8406a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2e534f7426742ea" /><Relationship Type="http://schemas.openxmlformats.org/officeDocument/2006/relationships/image" Target="/ppt/media/image.png" Id="R81784ec8e4134d18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89ca299bf444003" /><Relationship Type="http://schemas.openxmlformats.org/officeDocument/2006/relationships/image" Target="/ppt/media/image.png" Id="R53096c5e97654051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9318f7df75e45fa" /><Relationship Type="http://schemas.openxmlformats.org/officeDocument/2006/relationships/image" Target="/ppt/media/image.png" Id="R5ce281a198df4043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02b41dec55f4da8" /><Relationship Type="http://schemas.openxmlformats.org/officeDocument/2006/relationships/image" Target="/ppt/media/image.png" Id="R47acbd2593134d6e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d8101a5efa2443a" /><Relationship Type="http://schemas.openxmlformats.org/officeDocument/2006/relationships/image" Target="/ppt/media/image.png" Id="R4cbfe6cb97c84694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8df028ed06e4bea" /><Relationship Type="http://schemas.openxmlformats.org/officeDocument/2006/relationships/image" Target="/ppt/media/image.png" Id="Rfa5d3d42b19948ec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49fb74761b341d2" /><Relationship Type="http://schemas.openxmlformats.org/officeDocument/2006/relationships/image" Target="/ppt/media/image.png" Id="R6fd341862394408a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817fe45de4146b1" /><Relationship Type="http://schemas.openxmlformats.org/officeDocument/2006/relationships/image" Target="/ppt/media/image.png" Id="R715c2b11606a494c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3a274a3161654198"/>
          <a:stretch xmlns:a="http://schemas.openxmlformats.org/drawingml/2006/main"/>
        </p:blipFill>
        <p:spPr>
          <a:xfrm xmlns:a="http://schemas.openxmlformats.org/drawingml/2006/main" flipH="1">
            <a:off x="9886209" y="4538703"/>
            <a:ext cx="2305791" cy="1808464"/>
          </a:xfrm>
          <a:prstGeom xmlns:a="http://schemas.openxmlformats.org/drawingml/2006/main" prst="rect">
            <a:avLst/>
          </a:prstGeom>
        </p:spPr>
      </p:pic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FDFF6CC-43FC-990C-9B6B-9217A2FD674A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58F1D1E5-61EC-84C2-68FB-37DA30B7C33E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7481232-E342-60AC-0C19-E932E468DAF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9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451A462-1188-9829-7D1E-417EB327429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8AED0F6-839A-B9DC-89D0-453455FF7C4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AB58F53C-9EF7-92DC-D765-8C886206A74B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2000"/>
            </a:lvl1pPr>
            <a:lvl2pPr>
              <a:buNone/>
              <a:defRPr sz="1800"/>
            </a:lvl2pPr>
            <a:lvl3pPr>
              <a:buNone/>
              <a:defRPr sz="1600"/>
            </a:lvl3pPr>
            <a:lvl4pPr>
              <a:buNone/>
              <a:defRPr sz="1400"/>
            </a:lvl4pPr>
            <a:lvl5pPr>
              <a:buNone/>
              <a:defRPr sz="1400"/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6CBFC8B0-5A0E-12F0-38B4-11A4F3EF9A8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06D73EA-21DB-DB97-4D76-9405B6C179F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26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48baa457727a4dfd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4FC867F-56FF-F385-7E21-9E50A476D19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50" y="1709738"/>
            <a:ext cx="105156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F0BBECC5-631B-7421-97E1-98B9F359D5A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E8F7E75-9E44-2A95-FBD3-0072178142E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7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860958F-0114-E4CB-62D5-0B058DD7DCD9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26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e2dfde228bb8406a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3B01DDD-AD72-5492-F320-2E7CE01CE0B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B909B796-7446-F558-30BA-08587FEC72F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A22B2085-44DC-514D-64F8-CF9AAAFC60B9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E39ABB85-F6F1-0C19-E67F-0640F2AD985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E1953A55-7744-6468-2338-E73DDA32AA89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27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81784ec8e4134d18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FFB4B2B-EBD7-897A-C262-268EC4BE965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C51E813C-3E6C-AE68-B226-C6FD3EFE476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166CD796-C40A-1020-B4D5-B344846D29D7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B8914628-58A6-DA78-A619-B9BF81D2BCFD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E4F7B6B7-25B8-12E8-AF86-BF2C33C07444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7AD47AF6-33A9-6B39-7A72-07C6D36764E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10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F793A1B9-3B80-9879-3F5C-508512892F5F}"/>
              </a:ext>
            </a:extLst>
          </p:cNvPr>
          <p:cNvSpPr>
            <a:spLocks xmlns:a="http://schemas.openxmlformats.org/drawingml/2006/main" noGrp="1"/>
          </p:cNvSpPr>
          <p:nvPr>
            <p:ph type="ftr" idx="1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29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53096c5e97654051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FCEB483-C8E4-1939-38E2-143E8C2C465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146295CF-961A-17C4-4422-5FAAD161AA7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6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E198F76D-7C9E-684E-83A2-F78F7204BBE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25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5ce281a198df4043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7A2153FD-6EE3-927D-E92C-AD8A725CBED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E817CC06-6DDB-43E3-DC6C-5B8757B339E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24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47acbd2593134d6e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09BE86E-8041-6262-7462-5F74302C6B3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1028E74F-C33A-2B50-1388-4D9B8C90B9A4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83BB12FA-7CBC-383A-FB9A-76C44F3BFED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541DD9D1-AA59-4234-5101-B7789D2F77C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7516DE9-6B09-3815-23C9-1128F36E2F0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27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4cbfe6cb97c84694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FCFA6B7-9D69-735A-E926-4416D17716D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C86DB7F7-4E31-55AE-507B-BF19F2D4F507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/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0910AB72-D347-A0D1-09AD-464CA22BA74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FCAC0EC3-9A02-6817-1AD1-E884E7BA54C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CC35688-CEE5-57AE-D35E-231B71BD0AC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27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fa5d3d42b19948ec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FD1B9AF-39AC-B0C4-144B-75DC396DA23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F7274C17-AC95-6D65-E5F5-345957FDC05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48C1558-F77E-F6C8-CF31-C04964B8E4C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7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76EA422-06F7-D957-5CC8-8F1F313EC979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26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6fd341862394408a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DB701E9E-F58B-AB7A-4F4A-7CF22B8DF10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D08B1211-BEE6-97FE-18F8-0091FB8F779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2643978-8BED-40E0-988F-1E41DB3473E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7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3512B7D-FB40-4AD4-49F8-ABCCF2DAB55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26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715c2b11606a494c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bbddbac1e614180" /><Relationship Type="http://schemas.openxmlformats.org/officeDocument/2006/relationships/slideLayout" Target="/ppt/slideLayouts/slideLayout1.xml" Id="R4b053ad10c954bd5" /><Relationship Type="http://schemas.openxmlformats.org/officeDocument/2006/relationships/slideLayout" Target="/ppt/slideLayouts/slideLayout2.xml" Id="Rca35c30384f44208" /><Relationship Type="http://schemas.openxmlformats.org/officeDocument/2006/relationships/slideLayout" Target="/ppt/slideLayouts/slideLayout3.xml" Id="R7dffdb0962a94fd7" /><Relationship Type="http://schemas.openxmlformats.org/officeDocument/2006/relationships/slideLayout" Target="/ppt/slideLayouts/slideLayout4.xml" Id="Rf6738c0b4af14f94" /><Relationship Type="http://schemas.openxmlformats.org/officeDocument/2006/relationships/slideLayout" Target="/ppt/slideLayouts/slideLayout5.xml" Id="R8267b85e8d21440a" /><Relationship Type="http://schemas.openxmlformats.org/officeDocument/2006/relationships/slideLayout" Target="/ppt/slideLayouts/slideLayout6.xml" Id="Rd519e978b53d4ab9" /><Relationship Type="http://schemas.openxmlformats.org/officeDocument/2006/relationships/slideLayout" Target="/ppt/slideLayouts/slideLayout7.xml" Id="R8446777546ba4881" /><Relationship Type="http://schemas.openxmlformats.org/officeDocument/2006/relationships/slideLayout" Target="/ppt/slideLayouts/slideLayout8.xml" Id="Ra118fd24de134d40" /><Relationship Type="http://schemas.openxmlformats.org/officeDocument/2006/relationships/slideLayout" Target="/ppt/slideLayouts/slideLayout9.xml" Id="R91bf0032116b4b77" /><Relationship Type="http://schemas.openxmlformats.org/officeDocument/2006/relationships/slideLayout" Target="/ppt/slideLayouts/slideLayout10.xml" Id="R62ffc236a7464ba4" /><Relationship Type="http://schemas.openxmlformats.org/officeDocument/2006/relationships/slideLayout" Target="/ppt/slideLayouts/slideLayout11.xml" Id="Rfbb68c08ef97422d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0F1E21F5-9F35-B093-A31C-887A66DCF43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F132DE42-434F-8FAC-25DC-394A4A94E5F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68EFC8B-5FB5-A137-F95A-878BCA4FEDCF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825222" y="6510367"/>
            <a:ext cx="374325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/>
                </a:solidFill>
              </a:defRPr>
            </a:lvl1pPr>
          </a:lstStyle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BE2C9504-6A79-6DD8-74E5-098CA9D6E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615" y="6492875"/>
            <a:ext cx="6095010" cy="20005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700">
                <a:solidFill>
                  <a:schemeClr val="bg2">
                    <a:lumMod val="90000"/>
                  </a:schemeClr>
                </a:solidFill>
              </a:rPr>
              <a:t>© Tim Carpenter 2024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b053ad10c954bd5"/>
    <p:sldLayoutId xmlns:r="http://schemas.openxmlformats.org/officeDocument/2006/relationships" id="2147483650" r:id="Rca35c30384f44208"/>
    <p:sldLayoutId xmlns:r="http://schemas.openxmlformats.org/officeDocument/2006/relationships" id="2147483651" r:id="R7dffdb0962a94fd7"/>
    <p:sldLayoutId xmlns:r="http://schemas.openxmlformats.org/officeDocument/2006/relationships" id="2147483652" r:id="Rf6738c0b4af14f94"/>
    <p:sldLayoutId xmlns:r="http://schemas.openxmlformats.org/officeDocument/2006/relationships" id="2147483653" r:id="R8267b85e8d21440a"/>
    <p:sldLayoutId xmlns:r="http://schemas.openxmlformats.org/officeDocument/2006/relationships" id="2147483654" r:id="Rd519e978b53d4ab9"/>
    <p:sldLayoutId xmlns:r="http://schemas.openxmlformats.org/officeDocument/2006/relationships" id="2147483655" r:id="R8446777546ba4881"/>
    <p:sldLayoutId xmlns:r="http://schemas.openxmlformats.org/officeDocument/2006/relationships" id="2147483656" r:id="Ra118fd24de134d40"/>
    <p:sldLayoutId xmlns:r="http://schemas.openxmlformats.org/officeDocument/2006/relationships" id="2147483657" r:id="R91bf0032116b4b77"/>
    <p:sldLayoutId xmlns:r="http://schemas.openxmlformats.org/officeDocument/2006/relationships" id="2147483658" r:id="R62ffc236a7464ba4"/>
    <p:sldLayoutId xmlns:r="http://schemas.openxmlformats.org/officeDocument/2006/relationships" id="2147483659" r:id="Rfbb68c08ef97422d"/>
  </p:sldLayoutIdLst>
  <p:hf hdr="0" ftr="0" dt="0"/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n-lt"/>
          <a:ea typeface="+mn-lt"/>
          <a:cs typeface="+mn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96c1e878204362" /><Relationship Type="http://schemas.openxmlformats.org/officeDocument/2006/relationships/notesSlide" Target="/ppt/notesSlides/notesSlide1.xml" Id="R368ef2d584d843a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60358167033540bc" /><Relationship Type="http://schemas.openxmlformats.org/officeDocument/2006/relationships/notesSlide" Target="/ppt/notesSlides/notesSlide2.xml" Id="R8b2631f4cb4b497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175a8e0feb548c0" /><Relationship Type="http://schemas.openxmlformats.org/officeDocument/2006/relationships/notesSlide" Target="/ppt/notesSlides/notesSlide3.xml" Id="R72af9c1344474fc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a2cbbbb836b4616" /><Relationship Type="http://schemas.openxmlformats.org/officeDocument/2006/relationships/notesSlide" Target="/ppt/notesSlides/notesSlide4.xml" Id="Rf7de9533c4184c2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4a19ffc61fc478d" /><Relationship Type="http://schemas.openxmlformats.org/officeDocument/2006/relationships/notesSlide" Target="/ppt/notesSlides/notesSlide5.xml" Id="R2fb96302fee14c2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c8b7f856ca547a1" /><Relationship Type="http://schemas.openxmlformats.org/officeDocument/2006/relationships/notesSlide" Target="/ppt/notesSlides/notesSlide6.xml" Id="Re4d4cd882d5c4c3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1a17debd7f54c13" /><Relationship Type="http://schemas.openxmlformats.org/officeDocument/2006/relationships/notesSlide" Target="/ppt/notesSlides/notesSlide7.xml" Id="R480b398ad8f3404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4348a6e16f24637" /><Relationship Type="http://schemas.openxmlformats.org/officeDocument/2006/relationships/notesSlide" Target="/ppt/notesSlides/notesSlide8.xml" Id="Rc3be9e7d657e40a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1de6f6571724bad" /><Relationship Type="http://schemas.openxmlformats.org/officeDocument/2006/relationships/notesSlide" Target="/ppt/notesSlides/notesSlide9.xml" Id="Rd27807091b6d4083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89DEFA5-464B-5CD3-16E7-8CA8E9D38CFA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/>
        <p:txBody>
          <a:bodyPr xmlns:a="http://schemas.openxmlformats.org/drawingml/2006/main" wrap="none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rPr>
                <a:latin typeface="+mn-lt"/>
                <a:ea typeface="+mn-lt"/>
                <a:cs typeface="+mn-lt"/>
              </a:rPr>
              <a:t>Logical Choices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6EB4471D-A6DC-90AA-7CE6-A3673F8BDA8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Lesson 06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BE4468F-4F18-FF8F-2544-E216C0ACCBB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AD75FED6-38D0-DE9C-92C0-6E7FA635581C}" type="slidenum">
              <a:t>1</a:t>
            </a:fld>
          </a:p>
        </p:txBody>
      </p:sp>
    </p:spTree>
    <p:extLst>
      <p:ext uri="{BB962C8B-B14F-4D97-AF65-F5344CB8AC3E}">
        <p14:creationId xmlns:p14="http://schemas.microsoft.com/office/powerpoint/2010/main" val="3800850190"/>
      </p:ext>
    </p:extLst>
  </p:cSld>
</p:sld>
</file>

<file path=ppt/slides/slide2.xml><?xml version="1.0" encoding="utf-8"?>
<p:sld xmlns:p="http://schemas.openxmlformats.org/presentationml/2006/main" show="0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Rectangle 1">
            <a:extLst xmlns:a="http://schemas.openxmlformats.org/drawingml/2006/main">
              <a:ext uri="{FF2B5EF4-FFF2-40B4-BE49-F238E27FC236}">
                <a16:creationId xmlns:a16="http://schemas.microsoft.com/office/drawing/2014/main" id="{14E72FCF-5E06-85EB-F7FD-E1261A305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577" y="1749737"/>
            <a:ext cx="10956846" cy="19389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none" lIns="91440" tIns="45720" rIns="91440" bIns="45720" anchor="t">
            <a:normAutofit fontScale="96795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age = </a:t>
            </a: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int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"Enter your age: 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has_ticket = </a:t>
            </a: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"Do you have a ticket? 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has_adult = </a:t>
            </a: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"Is an adult with you? 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C45E00"/>
                </a:solidFill>
                <a:latin typeface="JetBrains Mono"/>
                <a:ea typeface="JetBrains Mono"/>
                <a:cs typeface="JetBrains Mono"/>
              </a:rPr>
              <a:t>if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age </a:t>
            </a:r>
            <a:r>
              <a:rPr sz="2400">
                <a:solidFill>
                  <a:srgbClr val="080808"/>
                </a:solidFill>
                <a:latin typeface="Consolas"/>
                <a:ea typeface="Consolas"/>
                <a:cs typeface="Consolas"/>
              </a:rPr>
              <a:t>&gt;=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12 </a:t>
            </a:r>
            <a:r>
              <a:rPr sz="2400">
                <a:solidFill>
                  <a:srgbClr val="C45E00"/>
                </a:solidFill>
                <a:latin typeface="JetBrains Mono"/>
                <a:ea typeface="JetBrains Mono"/>
                <a:cs typeface="JetBrains Mono"/>
              </a:rPr>
              <a:t>and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(has_ticket </a:t>
            </a:r>
            <a:r>
              <a:rPr sz="2400">
                <a:solidFill>
                  <a:srgbClr val="080808"/>
                </a:solidFill>
                <a:latin typeface="Consolas"/>
                <a:ea typeface="Consolas"/>
                <a:cs typeface="Consolas"/>
              </a:rPr>
              <a:t>==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"yes"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2400">
                <a:solidFill>
                  <a:srgbClr val="C45E00"/>
                </a:solidFill>
                <a:latin typeface="JetBrains Mono"/>
                <a:ea typeface="JetBrains Mono"/>
                <a:cs typeface="JetBrains Mono"/>
              </a:rPr>
              <a:t>or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has_adult </a:t>
            </a:r>
            <a:r>
              <a:rPr sz="2400">
                <a:solidFill>
                  <a:srgbClr val="080808"/>
                </a:solidFill>
                <a:latin typeface="Consolas"/>
                <a:ea typeface="Consolas"/>
                <a:cs typeface="Consolas"/>
              </a:rPr>
              <a:t>==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"yes"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):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</a:t>
            </a: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"You may enter."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C45E00"/>
                </a:solidFill>
                <a:latin typeface="JetBrains Mono"/>
                <a:ea typeface="JetBrains Mono"/>
                <a:cs typeface="JetBrains Mono"/>
              </a:rPr>
              <a:t>else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: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</a:t>
            </a: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"Please check the entry rules."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20BA63F-E9FE-C334-C48D-C94A3747F55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598689-54C9-18A7-3A19-ED76AA08988F}" type="slidenum">
              <a:t>2</a:t>
            </a:fld>
          </a:p>
        </p:txBody>
      </p:sp>
    </p:spTree>
    <p:extLst>
      <p:ext uri="{BB962C8B-B14F-4D97-AF65-F5344CB8AC3E}">
        <p14:creationId xmlns:p14="http://schemas.microsoft.com/office/powerpoint/2010/main" val="1917660197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42E218C-699D-6EC5-2CB5-B8B2CF083A9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 wrap="none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t>Look at this code:</a:t>
            </a:r>
          </a:p>
        </p:txBody>
      </p:sp>
      <p:sp>
        <p:nvSpPr>
          <p:cNvPr id="9" name="Rectangle 1">
            <a:extLst xmlns:a="http://schemas.openxmlformats.org/drawingml/2006/main">
              <a:ext uri="{FF2B5EF4-FFF2-40B4-BE49-F238E27FC236}">
                <a16:creationId xmlns:a16="http://schemas.microsoft.com/office/drawing/2014/main" id="{426873F0-29A2-F81A-C501-1BA80955C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8576" y="1859340"/>
            <a:ext cx="8824852" cy="15696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none" lIns="91440" tIns="45720" rIns="91440" bIns="45720" anchor="t">
            <a:normAutofit fontScale="77667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age = </a:t>
            </a: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int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"Enter your age: 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has_ticket = </a:t>
            </a: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"Do you have a ticket? 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has_adult = </a:t>
            </a: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"Is an adult with you? 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C45E00"/>
                </a:solidFill>
                <a:latin typeface="JetBrains Mono"/>
                <a:ea typeface="JetBrains Mono"/>
                <a:cs typeface="JetBrains Mono"/>
              </a:rPr>
              <a:t>if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age </a:t>
            </a:r>
            <a:r>
              <a:rPr sz="2400">
                <a:solidFill>
                  <a:srgbClr val="080808"/>
                </a:solidFill>
                <a:latin typeface="Consolas"/>
                <a:ea typeface="Consolas"/>
                <a:cs typeface="Consolas"/>
              </a:rPr>
              <a:t>&gt;=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12 </a:t>
            </a:r>
            <a:r>
              <a:rPr sz="2400">
                <a:solidFill>
                  <a:srgbClr val="C45E00"/>
                </a:solidFill>
                <a:latin typeface="JetBrains Mono"/>
                <a:ea typeface="JetBrains Mono"/>
                <a:cs typeface="JetBrains Mono"/>
              </a:rPr>
              <a:t>and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(has_ticket </a:t>
            </a:r>
            <a:r>
              <a:rPr sz="2400">
                <a:solidFill>
                  <a:srgbClr val="080808"/>
                </a:solidFill>
                <a:latin typeface="Consolas"/>
                <a:ea typeface="Consolas"/>
                <a:cs typeface="Consolas"/>
              </a:rPr>
              <a:t>==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"yes"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2400">
                <a:solidFill>
                  <a:srgbClr val="C45E00"/>
                </a:solidFill>
                <a:latin typeface="JetBrains Mono"/>
                <a:ea typeface="JetBrains Mono"/>
                <a:cs typeface="JetBrains Mono"/>
              </a:rPr>
              <a:t>or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has_adult </a:t>
            </a:r>
            <a:r>
              <a:rPr sz="2400">
                <a:solidFill>
                  <a:srgbClr val="080808"/>
                </a:solidFill>
                <a:latin typeface="Consolas"/>
                <a:ea typeface="Consolas"/>
                <a:cs typeface="Consolas"/>
              </a:rPr>
              <a:t>==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"yes"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):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</a:t>
            </a: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"You may enter."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C45E00"/>
                </a:solidFill>
                <a:latin typeface="JetBrains Mono"/>
                <a:ea typeface="JetBrains Mono"/>
                <a:cs typeface="JetBrains Mono"/>
              </a:rPr>
              <a:t>else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: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</a:t>
            </a: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"Please check the entry rules."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</p:txBody>
      </p:sp>
      <p:sp>
        <p:nvSpPr>
          <p:cNvPr id="13" name="Slide Number Placeholder 12">
            <a:extLst xmlns:a="http://schemas.openxmlformats.org/drawingml/2006/main">
              <a:ext uri="{FF2B5EF4-FFF2-40B4-BE49-F238E27FC236}">
                <a16:creationId xmlns:a16="http://schemas.microsoft.com/office/drawing/2014/main" id="{D887D507-89E7-7D8D-8C34-78ACD3DB74E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02359C0-8A7A-196E-DD58-8E6569619F09}" type="slidenum">
              <a:t>3</a:t>
            </a:fld>
          </a:p>
        </p:txBody>
      </p:sp>
    </p:spTree>
    <p:extLst>
      <p:ext uri="{BB962C8B-B14F-4D97-AF65-F5344CB8AC3E}">
        <p14:creationId xmlns:p14="http://schemas.microsoft.com/office/powerpoint/2010/main" val="726653081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E5F9C57-C2E5-F6D8-D85A-2011D9F51DB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 wrap="none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t>What do you think this code will do?</a:t>
            </a:r>
          </a:p>
        </p:txBody>
      </p:sp>
      <p:sp>
        <p:nvSpPr>
          <p:cNvPr id="6" name="Rectangle 1">
            <a:extLst xmlns:a="http://schemas.openxmlformats.org/drawingml/2006/main">
              <a:ext uri="{FF2B5EF4-FFF2-40B4-BE49-F238E27FC236}">
                <a16:creationId xmlns:a16="http://schemas.microsoft.com/office/drawing/2014/main" id="{94A964A3-7CB4-7BBD-D3F2-79A86FCF2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8576" y="1859340"/>
            <a:ext cx="8824852" cy="15696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none" lIns="91440" tIns="45720" rIns="91440" bIns="45720" anchor="t">
            <a:normAutofit fontScale="77667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age = </a:t>
            </a: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int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"Enter your age: 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has_ticket = </a:t>
            </a: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"Do you have a ticket? 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has_adult = </a:t>
            </a: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"Is an adult with you? 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C45E00"/>
                </a:solidFill>
                <a:latin typeface="JetBrains Mono"/>
                <a:ea typeface="JetBrains Mono"/>
                <a:cs typeface="JetBrains Mono"/>
              </a:rPr>
              <a:t>if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age </a:t>
            </a:r>
            <a:r>
              <a:rPr sz="2400">
                <a:solidFill>
                  <a:srgbClr val="080808"/>
                </a:solidFill>
                <a:latin typeface="Consolas"/>
                <a:ea typeface="Consolas"/>
                <a:cs typeface="Consolas"/>
              </a:rPr>
              <a:t>&gt;=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12 </a:t>
            </a:r>
            <a:r>
              <a:rPr sz="2400">
                <a:solidFill>
                  <a:srgbClr val="C45E00"/>
                </a:solidFill>
                <a:latin typeface="JetBrains Mono"/>
                <a:ea typeface="JetBrains Mono"/>
                <a:cs typeface="JetBrains Mono"/>
              </a:rPr>
              <a:t>and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(has_ticket </a:t>
            </a:r>
            <a:r>
              <a:rPr sz="2400">
                <a:solidFill>
                  <a:srgbClr val="080808"/>
                </a:solidFill>
                <a:latin typeface="Consolas"/>
                <a:ea typeface="Consolas"/>
                <a:cs typeface="Consolas"/>
              </a:rPr>
              <a:t>==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"yes"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2400">
                <a:solidFill>
                  <a:srgbClr val="C45E00"/>
                </a:solidFill>
                <a:latin typeface="JetBrains Mono"/>
                <a:ea typeface="JetBrains Mono"/>
                <a:cs typeface="JetBrains Mono"/>
              </a:rPr>
              <a:t>or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has_adult </a:t>
            </a:r>
            <a:r>
              <a:rPr sz="2400">
                <a:solidFill>
                  <a:srgbClr val="080808"/>
                </a:solidFill>
                <a:latin typeface="Consolas"/>
                <a:ea typeface="Consolas"/>
                <a:cs typeface="Consolas"/>
              </a:rPr>
              <a:t>==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"yes"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):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</a:t>
            </a: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"You may enter."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C45E00"/>
                </a:solidFill>
                <a:latin typeface="JetBrains Mono"/>
                <a:ea typeface="JetBrains Mono"/>
                <a:cs typeface="JetBrains Mono"/>
              </a:rPr>
              <a:t>else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: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</a:t>
            </a: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"Please check the entry rules."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DDDBE35E-DE92-4B4D-75A9-891D3E276B0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FD6AB9A-5F9E-5F59-51AB-3C8734130965}" type="slidenum">
              <a:t>4</a:t>
            </a:fld>
          </a:p>
        </p:txBody>
      </p:sp>
    </p:spTree>
    <p:extLst>
      <p:ext uri="{BB962C8B-B14F-4D97-AF65-F5344CB8AC3E}">
        <p14:creationId xmlns:p14="http://schemas.microsoft.com/office/powerpoint/2010/main" val="351797978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CB5EA7E-2DAD-0491-950A-43E595A22E4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 wrap="none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rPr b="1"/>
              <a:t>Let’s investigate.</a:t>
            </a:r>
          </a:p>
        </p:txBody>
      </p:sp>
      <p:sp>
        <p:nvSpPr>
          <p:cNvPr id="4" name="Rectangle 1">
            <a:extLst xmlns:a="http://schemas.openxmlformats.org/drawingml/2006/main">
              <a:ext uri="{FF2B5EF4-FFF2-40B4-BE49-F238E27FC236}">
                <a16:creationId xmlns:a16="http://schemas.microsoft.com/office/drawing/2014/main" id="{9998CA8A-BAE1-D919-AD2C-1043AF60E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32794"/>
            <a:ext cx="10182101" cy="33855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ctr">
            <a:normAutofit fontScale="100000"/>
          </a:bodyPr>
          <a:lstStyle xmlns:a="http://schemas.openxmlformats.org/drawingml/2006/main">
            <a:lvl1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indent="0">
              <a:spcAft>
                <a:spcPts val="16"/>
              </a:spcAft>
              <a:buNone/>
            </a:pPr>
            <a:r>
              <a:rPr sz="2600" b="1"/>
              <a:t>Answer the questions:</a:t>
            </a:r>
          </a:p>
          <a:p xmlns:a="http://schemas.openxmlformats.org/drawingml/2006/main">
            <a:pPr marL="0" indent="0">
              <a:spcAft>
                <a:spcPts val="8"/>
              </a:spcAft>
              <a:buNone/>
            </a:pPr>
            <a:r>
              <a:rPr sz="2000"/>
              <a:t>1. If the age is 11 and the ticket answer is yes, what message appears? Why?</a:t>
            </a:r>
          </a:p>
          <a:p xmlns:a="http://schemas.openxmlformats.org/drawingml/2006/main">
            <a:pPr marL="0" indent="0">
              <a:spcAft>
                <a:spcPts val="8"/>
              </a:spcAft>
              <a:buNone/>
            </a:pPr>
            <a:r>
              <a:rPr sz="2000"/>
              <a:t>2. For age 14, ticket no and adult yes, what message appears? Which comparison is True?</a:t>
            </a:r>
          </a:p>
          <a:p xmlns:a="http://schemas.openxmlformats.org/drawingml/2006/main">
            <a:pPr marL="0" indent="0">
              <a:spcAft>
                <a:spcPts val="8"/>
              </a:spcAft>
              <a:buNone/>
            </a:pPr>
            <a:r>
              <a:rPr sz="2000"/>
              <a:t>3. What happens if the user types Yes instead of yes, and why?</a:t>
            </a:r>
          </a:p>
          <a:p xmlns:a="http://schemas.openxmlformats.org/drawingml/2006/main">
            <a:pPr marL="0" indent="0">
              <a:spcAft>
                <a:spcPts val="8"/>
              </a:spcAft>
              <a:buNone/>
            </a:pPr>
            <a:r>
              <a:rPr sz="2000"/>
              <a:t>4. If or were changed to and, would age 14, ticket no, adult yes allow entry?</a:t>
            </a:r>
          </a:p>
        </p:txBody>
      </p:sp>
      <p:sp>
        <p:nvSpPr>
          <p:cNvPr id="7" name="Rectangle 1">
            <a:extLst xmlns:a="http://schemas.openxmlformats.org/drawingml/2006/main">
              <a:ext uri="{FF2B5EF4-FFF2-40B4-BE49-F238E27FC236}">
                <a16:creationId xmlns:a16="http://schemas.microsoft.com/office/drawing/2014/main" id="{A313224D-AAE9-19C6-3D76-BCDB1D377AEA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954446" y="1280160"/>
            <a:ext cx="6474775" cy="1645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age = </a:t>
            </a:r>
            <a:r>
              <a:rPr sz="1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int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"Enter your age: "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))</a:t>
            </a:r>
            <a:b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has_ticket = </a:t>
            </a:r>
            <a:r>
              <a:rPr sz="1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"Do you have a ticket? "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  <a:b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has_adult = </a:t>
            </a:r>
            <a:r>
              <a:rPr sz="1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"Is an adult with you? "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  <a:b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400">
                <a:solidFill>
                  <a:srgbClr val="C45E00"/>
                </a:solidFill>
                <a:latin typeface="JetBrains Mono"/>
                <a:ea typeface="JetBrains Mono"/>
                <a:cs typeface="JetBrains Mono"/>
              </a:rPr>
              <a:t>if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age </a:t>
            </a:r>
            <a:r>
              <a:rPr sz="1400">
                <a:solidFill>
                  <a:srgbClr val="080808"/>
                </a:solidFill>
                <a:latin typeface="Consolas"/>
                <a:ea typeface="Consolas"/>
                <a:cs typeface="Consolas"/>
              </a:rPr>
              <a:t>&gt;=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12 </a:t>
            </a:r>
            <a:r>
              <a:rPr sz="1400">
                <a:solidFill>
                  <a:srgbClr val="C45E00"/>
                </a:solidFill>
                <a:latin typeface="JetBrains Mono"/>
                <a:ea typeface="JetBrains Mono"/>
                <a:cs typeface="JetBrains Mono"/>
              </a:rPr>
              <a:t>and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(has_ticket </a:t>
            </a:r>
            <a:r>
              <a:rPr sz="1400">
                <a:solidFill>
                  <a:srgbClr val="080808"/>
                </a:solidFill>
                <a:latin typeface="Consolas"/>
                <a:ea typeface="Consolas"/>
                <a:cs typeface="Consolas"/>
              </a:rPr>
              <a:t>==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1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"yes"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1400">
                <a:solidFill>
                  <a:srgbClr val="C45E00"/>
                </a:solidFill>
                <a:latin typeface="JetBrains Mono"/>
                <a:ea typeface="JetBrains Mono"/>
                <a:cs typeface="JetBrains Mono"/>
              </a:rPr>
              <a:t>or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has_adult </a:t>
            </a:r>
            <a:r>
              <a:rPr sz="1400">
                <a:solidFill>
                  <a:srgbClr val="080808"/>
                </a:solidFill>
                <a:latin typeface="Consolas"/>
                <a:ea typeface="Consolas"/>
                <a:cs typeface="Consolas"/>
              </a:rPr>
              <a:t>==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1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"yes"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):</a:t>
            </a:r>
            <a:b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</a:t>
            </a:r>
            <a:r>
              <a:rPr sz="1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"You may enter."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  <a:b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400">
                <a:solidFill>
                  <a:srgbClr val="C45E00"/>
                </a:solidFill>
                <a:latin typeface="JetBrains Mono"/>
                <a:ea typeface="JetBrains Mono"/>
                <a:cs typeface="JetBrains Mono"/>
              </a:rPr>
              <a:t>else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:</a:t>
            </a:r>
            <a:b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</a:t>
            </a:r>
            <a:r>
              <a:rPr sz="1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"Please check the entry rules."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941323505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CFD3ACF-F271-8980-D873-F9D6FB9FB08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37569" y="2124718"/>
            <a:ext cx="3832073" cy="1325563"/>
          </a:xfrm>
        </p:spPr>
        <p:txBody>
          <a:bodyPr xmlns:a="http://schemas.openxmlformats.org/drawingml/2006/main" wrap="none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t>Challenge 1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FE010D74-B7EC-9185-C8DF-767A2EA671F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294599" y="3405120"/>
            <a:ext cx="7425519" cy="2115403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Change the example so visitors must also be 17 or under. Add this rule with the </a:t>
            </a:r>
            <a:r>
              <a:rPr sz="2050" b="0">
                <a:solidFill>
                  <a:srgbClr val="C45E00"/>
                </a:solidFill>
                <a:latin typeface="JetBrains Mono"/>
                <a:ea typeface="JetBrains Mono"/>
                <a:cs typeface="JetBrains Mono"/>
              </a:rPr>
              <a:t>and</a:t>
            </a: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 operator and &lt;=. For example, age 14 with a ticket displays </a:t>
            </a:r>
            <a:r>
              <a:rPr sz="2050" b="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"You may enter."</a:t>
            </a: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 but age 18 with a ticket does not.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90156456-F916-2DFA-3233-CF36D6126AC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C630A04-5A25-9E0C-9436-126091DB86B3}" type="slidenum">
              <a:t>6</a:t>
            </a:fld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1C8A6263-CC79-FF3D-FD4C-FA1A647B7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9320" y="46401"/>
            <a:ext cx="1828800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400"/>
              <a:t>Starter Code:</a:t>
            </a:r>
          </a:p>
        </p:txBody>
      </p:sp>
      <p:sp>
        <p:nvSpPr>
          <p:cNvPr id="9" name="Rectangle 1">
            <a:extLst xmlns:a="http://schemas.openxmlformats.org/drawingml/2006/main">
              <a:ext uri="{FF2B5EF4-FFF2-40B4-BE49-F238E27FC236}">
                <a16:creationId xmlns:a16="http://schemas.microsoft.com/office/drawing/2014/main" id="{C222A94C-9EF0-110A-E446-C6FE28AB0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9320" y="354178"/>
            <a:ext cx="589788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age = </a:t>
            </a:r>
            <a:r>
              <a:rPr sz="1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int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"Enter your age: "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))</a:t>
            </a:r>
            <a:b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has_ticket = </a:t>
            </a:r>
            <a:r>
              <a:rPr sz="1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"Do you have a ticket? "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  <a:b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has_adult = </a:t>
            </a:r>
            <a:r>
              <a:rPr sz="1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"Is an adult with you? "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  <a:b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400">
                <a:solidFill>
                  <a:srgbClr val="C45E00"/>
                </a:solidFill>
                <a:latin typeface="JetBrains Mono"/>
                <a:ea typeface="JetBrains Mono"/>
                <a:cs typeface="JetBrains Mono"/>
              </a:rPr>
              <a:t>if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age </a:t>
            </a:r>
            <a:r>
              <a:rPr sz="1400">
                <a:solidFill>
                  <a:srgbClr val="080808"/>
                </a:solidFill>
                <a:latin typeface="Consolas"/>
                <a:ea typeface="Consolas"/>
                <a:cs typeface="Consolas"/>
              </a:rPr>
              <a:t>&gt;=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12 </a:t>
            </a:r>
            <a:r>
              <a:rPr sz="1400">
                <a:solidFill>
                  <a:srgbClr val="C45E00"/>
                </a:solidFill>
                <a:latin typeface="JetBrains Mono"/>
                <a:ea typeface="JetBrains Mono"/>
                <a:cs typeface="JetBrains Mono"/>
              </a:rPr>
              <a:t>and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(has_ticket </a:t>
            </a:r>
            <a:r>
              <a:rPr sz="1400">
                <a:solidFill>
                  <a:srgbClr val="080808"/>
                </a:solidFill>
                <a:latin typeface="Consolas"/>
                <a:ea typeface="Consolas"/>
                <a:cs typeface="Consolas"/>
              </a:rPr>
              <a:t>==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1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"yes"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1400">
                <a:solidFill>
                  <a:srgbClr val="C45E00"/>
                </a:solidFill>
                <a:latin typeface="JetBrains Mono"/>
                <a:ea typeface="JetBrains Mono"/>
                <a:cs typeface="JetBrains Mono"/>
              </a:rPr>
              <a:t>or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has_adult </a:t>
            </a:r>
            <a:r>
              <a:rPr sz="1400">
                <a:solidFill>
                  <a:srgbClr val="080808"/>
                </a:solidFill>
                <a:latin typeface="Consolas"/>
                <a:ea typeface="Consolas"/>
                <a:cs typeface="Consolas"/>
              </a:rPr>
              <a:t>==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1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"yes"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):</a:t>
            </a:r>
            <a:b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</a:t>
            </a:r>
            <a:r>
              <a:rPr sz="1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"You may enter."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  <a:b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400">
                <a:solidFill>
                  <a:srgbClr val="C45E00"/>
                </a:solidFill>
                <a:latin typeface="JetBrains Mono"/>
                <a:ea typeface="JetBrains Mono"/>
                <a:cs typeface="JetBrains Mono"/>
              </a:rPr>
              <a:t>else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:</a:t>
            </a:r>
            <a:b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</a:t>
            </a:r>
            <a:r>
              <a:rPr sz="1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"Please check the entry rules."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523084536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6F32E09-610F-3EC3-B786-50BDF0372E6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37569" y="2124718"/>
            <a:ext cx="3832073" cy="1325563"/>
          </a:xfrm>
        </p:spPr>
        <p:txBody>
          <a:bodyPr xmlns:a="http://schemas.openxmlformats.org/drawingml/2006/main" wrap="none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t>Challenge 2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59C6027A-1FB5-B72A-C3EC-60CC3C954B38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294599" y="3405120"/>
            <a:ext cx="7425519" cy="2115403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Change the entry rule in the example: visitors aged 12 or over need a ticket, but anyone with an adult may enter at any age. Rewrite the condition using the </a:t>
            </a:r>
            <a:r>
              <a:rPr sz="2050" b="0">
                <a:solidFill>
                  <a:srgbClr val="C45E00"/>
                </a:solidFill>
                <a:latin typeface="JetBrains Mono"/>
                <a:ea typeface="JetBrains Mono"/>
                <a:cs typeface="JetBrains Mono"/>
              </a:rPr>
              <a:t>and</a:t>
            </a: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 operator and the </a:t>
            </a:r>
            <a:r>
              <a:rPr sz="2050" b="0">
                <a:solidFill>
                  <a:srgbClr val="C45E00"/>
                </a:solidFill>
                <a:latin typeface="JetBrains Mono"/>
                <a:ea typeface="JetBrains Mono"/>
                <a:cs typeface="JetBrains Mono"/>
              </a:rPr>
              <a:t>or</a:t>
            </a: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 operator. For example, age 10, no ticket and an adult displays </a:t>
            </a:r>
            <a:r>
              <a:rPr sz="2050" b="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"You may enter."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70D6E3A5-7CB1-FEBE-DD06-6569C8628B9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3D7D1C8-AE23-AA48-DF65-C742588DBE47}" type="slidenum">
              <a:t>7</a:t>
            </a:fld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A196B955-0246-808C-A71A-D2BB9AF54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9320" y="46401"/>
            <a:ext cx="1828800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400"/>
              <a:t>Starter Code:</a:t>
            </a:r>
          </a:p>
        </p:txBody>
      </p:sp>
      <p:sp>
        <p:nvSpPr>
          <p:cNvPr id="9" name="Rectangle 1">
            <a:extLst xmlns:a="http://schemas.openxmlformats.org/drawingml/2006/main">
              <a:ext uri="{FF2B5EF4-FFF2-40B4-BE49-F238E27FC236}">
                <a16:creationId xmlns:a16="http://schemas.microsoft.com/office/drawing/2014/main" id="{5EBE2FD6-88DA-C59D-A3CB-7D8ADC682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9320" y="354178"/>
            <a:ext cx="589788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age = </a:t>
            </a:r>
            <a:r>
              <a:rPr sz="1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int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"Enter your age: "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))</a:t>
            </a:r>
            <a:b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has_ticket = </a:t>
            </a:r>
            <a:r>
              <a:rPr sz="1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"Do you have a ticket? "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  <a:b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has_adult = </a:t>
            </a:r>
            <a:r>
              <a:rPr sz="1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"Is an adult with you? "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  <a:b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400">
                <a:solidFill>
                  <a:srgbClr val="C45E00"/>
                </a:solidFill>
                <a:latin typeface="JetBrains Mono"/>
                <a:ea typeface="JetBrains Mono"/>
                <a:cs typeface="JetBrains Mono"/>
              </a:rPr>
              <a:t>if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age </a:t>
            </a:r>
            <a:r>
              <a:rPr sz="1400">
                <a:solidFill>
                  <a:srgbClr val="080808"/>
                </a:solidFill>
                <a:latin typeface="Consolas"/>
                <a:ea typeface="Consolas"/>
                <a:cs typeface="Consolas"/>
              </a:rPr>
              <a:t>&gt;=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12 </a:t>
            </a:r>
            <a:r>
              <a:rPr sz="1400">
                <a:solidFill>
                  <a:srgbClr val="C45E00"/>
                </a:solidFill>
                <a:latin typeface="JetBrains Mono"/>
                <a:ea typeface="JetBrains Mono"/>
                <a:cs typeface="JetBrains Mono"/>
              </a:rPr>
              <a:t>and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(has_ticket </a:t>
            </a:r>
            <a:r>
              <a:rPr sz="1400">
                <a:solidFill>
                  <a:srgbClr val="080808"/>
                </a:solidFill>
                <a:latin typeface="Consolas"/>
                <a:ea typeface="Consolas"/>
                <a:cs typeface="Consolas"/>
              </a:rPr>
              <a:t>==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1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"yes"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1400">
                <a:solidFill>
                  <a:srgbClr val="C45E00"/>
                </a:solidFill>
                <a:latin typeface="JetBrains Mono"/>
                <a:ea typeface="JetBrains Mono"/>
                <a:cs typeface="JetBrains Mono"/>
              </a:rPr>
              <a:t>or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has_adult </a:t>
            </a:r>
            <a:r>
              <a:rPr sz="1400">
                <a:solidFill>
                  <a:srgbClr val="080808"/>
                </a:solidFill>
                <a:latin typeface="Consolas"/>
                <a:ea typeface="Consolas"/>
                <a:cs typeface="Consolas"/>
              </a:rPr>
              <a:t>==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1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"yes"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):</a:t>
            </a:r>
            <a:b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</a:t>
            </a:r>
            <a:r>
              <a:rPr sz="1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"You may enter."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  <a:b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400">
                <a:solidFill>
                  <a:srgbClr val="C45E00"/>
                </a:solidFill>
                <a:latin typeface="JetBrains Mono"/>
                <a:ea typeface="JetBrains Mono"/>
                <a:cs typeface="JetBrains Mono"/>
              </a:rPr>
              <a:t>else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:</a:t>
            </a:r>
            <a:b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</a:t>
            </a:r>
            <a:r>
              <a:rPr sz="1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"Please check the entry rules."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307315574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4A55FF9-C519-C841-BC1B-5A0F8233806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37569" y="2124718"/>
            <a:ext cx="3832073" cy="1325563"/>
          </a:xfrm>
        </p:spPr>
        <p:txBody>
          <a:bodyPr xmlns:a="http://schemas.openxmlformats.org/drawingml/2006/main" wrap="none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t>Challenge 3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50A78088-1A9E-9140-1446-FCCFF01522D1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294599" y="3405120"/>
            <a:ext cx="7425519" cy="2115403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Create a cinema-ticket program that asks for the user's age and whether they are a student. Display </a:t>
            </a:r>
            <a:r>
              <a:rPr sz="2050" b="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"Discount price"</a:t>
            </a: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 for anyone under 16, or for students aged 25 or under; otherwise display </a:t>
            </a:r>
            <a:r>
              <a:rPr sz="2050" b="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"Full price"</a:t>
            </a: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. Use the </a:t>
            </a:r>
            <a:r>
              <a:rPr sz="2050" b="0">
                <a:solidFill>
                  <a:srgbClr val="C45E00"/>
                </a:solidFill>
                <a:latin typeface="JetBrains Mono"/>
                <a:ea typeface="JetBrains Mono"/>
                <a:cs typeface="JetBrains Mono"/>
              </a:rPr>
              <a:t>and</a:t>
            </a: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 operator and the </a:t>
            </a:r>
            <a:r>
              <a:rPr sz="2050" b="0">
                <a:solidFill>
                  <a:srgbClr val="C45E00"/>
                </a:solidFill>
                <a:latin typeface="JetBrains Mono"/>
                <a:ea typeface="JetBrains Mono"/>
                <a:cs typeface="JetBrains Mono"/>
              </a:rPr>
              <a:t>or</a:t>
            </a: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 operator. Test 12 and </a:t>
            </a:r>
            <a:r>
              <a:rPr sz="2050" b="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"no"</a:t>
            </a: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, 20 and </a:t>
            </a:r>
            <a:r>
              <a:rPr sz="2050" b="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"yes"</a:t>
            </a: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, then 30 and </a:t>
            </a:r>
            <a:r>
              <a:rPr sz="2050" b="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"yes"</a:t>
            </a: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.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F6969061-E293-66B3-2505-D44FC70B8ED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A58DA2A-B818-18A9-29C1-B697728D5BCE}" type="slidenum">
              <a:t>8</a:t>
            </a:fld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98315360-7E37-4E61-CFB3-15B4BF185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9320" y="46401"/>
            <a:ext cx="1828800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400"/>
              <a:t>Starter Code:</a:t>
            </a:r>
          </a:p>
        </p:txBody>
      </p:sp>
      <p:sp>
        <p:nvSpPr>
          <p:cNvPr id="6" name="Rectangle 1">
            <a:extLst xmlns:a="http://schemas.openxmlformats.org/drawingml/2006/main">
              <a:ext uri="{FF2B5EF4-FFF2-40B4-BE49-F238E27FC236}">
                <a16:creationId xmlns:a16="http://schemas.microsoft.com/office/drawing/2014/main" id="{0CFC9096-19D0-8DB5-A52D-780B3819F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9320" y="354178"/>
            <a:ext cx="589788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age = </a:t>
            </a:r>
            <a:r>
              <a:rPr sz="1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int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"Enter your age: "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))</a:t>
            </a:r>
            <a:b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has_ticket = </a:t>
            </a:r>
            <a:r>
              <a:rPr sz="1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"Do you have a ticket? "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  <a:b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has_adult = </a:t>
            </a:r>
            <a:r>
              <a:rPr sz="1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"Is an adult with you? "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  <a:b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400">
                <a:solidFill>
                  <a:srgbClr val="C45E00"/>
                </a:solidFill>
                <a:latin typeface="JetBrains Mono"/>
                <a:ea typeface="JetBrains Mono"/>
                <a:cs typeface="JetBrains Mono"/>
              </a:rPr>
              <a:t>if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age </a:t>
            </a:r>
            <a:r>
              <a:rPr sz="1400">
                <a:solidFill>
                  <a:srgbClr val="080808"/>
                </a:solidFill>
                <a:latin typeface="Consolas"/>
                <a:ea typeface="Consolas"/>
                <a:cs typeface="Consolas"/>
              </a:rPr>
              <a:t>&gt;=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12 </a:t>
            </a:r>
            <a:r>
              <a:rPr sz="1400">
                <a:solidFill>
                  <a:srgbClr val="C45E00"/>
                </a:solidFill>
                <a:latin typeface="JetBrains Mono"/>
                <a:ea typeface="JetBrains Mono"/>
                <a:cs typeface="JetBrains Mono"/>
              </a:rPr>
              <a:t>and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(has_ticket </a:t>
            </a:r>
            <a:r>
              <a:rPr sz="1400">
                <a:solidFill>
                  <a:srgbClr val="080808"/>
                </a:solidFill>
                <a:latin typeface="Consolas"/>
                <a:ea typeface="Consolas"/>
                <a:cs typeface="Consolas"/>
              </a:rPr>
              <a:t>==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1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"yes"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1400">
                <a:solidFill>
                  <a:srgbClr val="C45E00"/>
                </a:solidFill>
                <a:latin typeface="JetBrains Mono"/>
                <a:ea typeface="JetBrains Mono"/>
                <a:cs typeface="JetBrains Mono"/>
              </a:rPr>
              <a:t>or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has_adult </a:t>
            </a:r>
            <a:r>
              <a:rPr sz="1400">
                <a:solidFill>
                  <a:srgbClr val="080808"/>
                </a:solidFill>
                <a:latin typeface="Consolas"/>
                <a:ea typeface="Consolas"/>
                <a:cs typeface="Consolas"/>
              </a:rPr>
              <a:t>==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1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"yes"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):</a:t>
            </a:r>
            <a:b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</a:t>
            </a:r>
            <a:r>
              <a:rPr sz="1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"You may enter."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  <a:b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400">
                <a:solidFill>
                  <a:srgbClr val="C45E00"/>
                </a:solidFill>
                <a:latin typeface="JetBrains Mono"/>
                <a:ea typeface="JetBrains Mono"/>
                <a:cs typeface="JetBrains Mono"/>
              </a:rPr>
              <a:t>else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:</a:t>
            </a:r>
            <a:b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</a:t>
            </a:r>
            <a:r>
              <a:rPr sz="1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"Please check the entry rules."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373945130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4DFBD71-FEF6-6EBF-BF05-0ED86228F78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37569" y="2124718"/>
            <a:ext cx="3832073" cy="1325563"/>
          </a:xfrm>
        </p:spPr>
        <p:txBody>
          <a:bodyPr xmlns:a="http://schemas.openxmlformats.org/drawingml/2006/main" wrap="none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t>Fix the code!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5DC8E91D-B482-1BE2-7466-89F6C23BCF11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294599" y="3405120"/>
            <a:ext cx="7425519" cy="2115403"/>
          </a:xfrm>
        </p:spPr>
        <p:txBody>
          <a:bodyPr xmlns:a="http://schemas.openxmlformats.org/drawingml/2006/main">
            <a:normAutofit fontScale="54933" lnSpcReduction="20000"/>
          </a:bodyPr>
          <a:lstStyle xmlns:a="http://schemas.openxmlformats.org/drawingml/2006/main"/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800" b="1">
                <a:solidFill>
                  <a:srgbClr val="FF0000"/>
                </a:solidFill>
              </a:rPr>
              <a:t>This code has errors!</a:t>
            </a:r>
            <a:r>
              <a:rPr sz="2800" b="1">
                <a:solidFill>
                  <a:srgbClr val="080808"/>
                </a:solidFill>
              </a:rPr>
              <a:t> Look closely at the code to find the problems: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>
                <a:latin typeface="JetBrains Mono"/>
                <a:ea typeface="JetBrains Mono"/>
                <a:cs typeface="JetBrains Mono"/>
              </a:rPr>
              <a:t> 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age = </a:t>
            </a:r>
            <a:r>
              <a:rPr sz="18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int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8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8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"Enter your age: "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has_ticket = </a:t>
            </a:r>
            <a:r>
              <a:rPr sz="18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8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"Do you have a ticket? "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has_adult = </a:t>
            </a:r>
            <a:r>
              <a:rPr sz="18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8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"Is an adult with you? "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>
                <a:solidFill>
                  <a:srgbClr val="C45E00"/>
                </a:solidFill>
                <a:latin typeface="JetBrains Mono"/>
                <a:ea typeface="JetBrains Mono"/>
                <a:cs typeface="JetBrains Mono"/>
              </a:rPr>
              <a:t>if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age </a:t>
            </a:r>
            <a:r>
              <a:rPr sz="1800">
                <a:solidFill>
                  <a:srgbClr val="080808"/>
                </a:solidFill>
                <a:latin typeface="Consolas"/>
                <a:ea typeface="Consolas"/>
                <a:cs typeface="Consolas"/>
              </a:rPr>
              <a:t>&gt;=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12 </a:t>
            </a:r>
            <a:r>
              <a:rPr sz="1800">
                <a:solidFill>
                  <a:srgbClr val="C45E00"/>
                </a:solidFill>
                <a:latin typeface="JetBrains Mono"/>
                <a:ea typeface="JetBrains Mono"/>
                <a:cs typeface="JetBrains Mono"/>
              </a:rPr>
              <a:t>and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(has_ticket </a:t>
            </a:r>
            <a:r>
              <a:rPr sz="1800">
                <a:solidFill>
                  <a:srgbClr val="080808"/>
                </a:solidFill>
                <a:latin typeface="Consolas"/>
                <a:ea typeface="Consolas"/>
                <a:cs typeface="Consolas"/>
              </a:rPr>
              <a:t>==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18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"yes"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1800">
                <a:solidFill>
                  <a:srgbClr val="C45E00"/>
                </a:solidFill>
                <a:latin typeface="JetBrains Mono"/>
                <a:ea typeface="JetBrains Mono"/>
                <a:cs typeface="JetBrains Mono"/>
              </a:rPr>
              <a:t>or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has_adults </a:t>
            </a:r>
            <a:r>
              <a:rPr sz="1800">
                <a:solidFill>
                  <a:srgbClr val="080808"/>
                </a:solidFill>
                <a:latin typeface="Consolas"/>
                <a:ea typeface="Consolas"/>
                <a:cs typeface="Consolas"/>
              </a:rPr>
              <a:t>==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18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"yes"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):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</a:t>
            </a:r>
            <a:r>
              <a:rPr sz="18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8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"You may enter."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>
                <a:solidFill>
                  <a:srgbClr val="C45E00"/>
                </a:solidFill>
                <a:latin typeface="JetBrains Mono"/>
                <a:ea typeface="JetBrains Mono"/>
                <a:cs typeface="JetBrains Mono"/>
              </a:rPr>
              <a:t>else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: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</a:t>
            </a:r>
            <a:r>
              <a:rPr sz="18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8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"Please check the entry rules."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C4F0ADF4-CBA1-F217-15B9-2DF889C0761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88657AE-30A1-5A7A-6A7F-315D84436430}" type="slidenum">
              <a:t>9</a:t>
            </a:fld>
          </a:p>
        </p:txBody>
      </p:sp>
    </p:spTree>
    <p:extLst>
      <p:ext uri="{BB962C8B-B14F-4D97-AF65-F5344CB8AC3E}">
        <p14:creationId xmlns:p14="http://schemas.microsoft.com/office/powerpoint/2010/main" val="336215718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2026-09-28T09:06:05.8960000Z</dcterms:created>
  <dcterms:modified xsi:type="dcterms:W3CDTF">2026-09-28T09:06:05.8960000Z</dcterms:modified>
</coreProperties>
</file>